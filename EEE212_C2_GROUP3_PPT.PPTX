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layout1.xml" ContentType="application/vnd.openxmlformats-officedocument.drawingml.diagramLayout+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quickStyle1.xml" ContentType="application/vnd.openxmlformats-officedocument.drawingml.diagramStyle+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colors1.xml" ContentType="application/vnd.openxmlformats-officedocument.drawingml.diagramColors+xml"/>
  <Override PartName="/ppt/diagrams/drawing1.xml" ContentType="application/vnd.ms-office.drawingml.diagramDrawing+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5" r:id="rId5"/>
    <p:sldId id="279" r:id="rId6"/>
    <p:sldId id="267" r:id="rId7"/>
    <p:sldId id="281" r:id="rId8"/>
    <p:sldId id="282" r:id="rId9"/>
    <p:sldId id="283" r:id="rId10"/>
    <p:sldId id="284" r:id="rId11"/>
    <p:sldId id="285" r:id="rId12"/>
    <p:sldId id="280" r:id="rId13"/>
    <p:sldId id="286" r:id="rId14"/>
    <p:sldId id="276" r:id="rId15"/>
    <p:sldId id="278" r:id="rId16"/>
    <p:sldId id="264" r:id="rId17"/>
    <p:sldId id="277" r:id="rId18"/>
    <p:sldId id="275" r:id="rId19"/>
    <p:sldId id="274" r:id="rId20"/>
    <p:sldId id="263" r:id="rId21"/>
    <p:sldId id="269" r:id="rId22"/>
    <p:sldId id="271" r:id="rId23"/>
    <p:sldId id="272" r:id="rId24"/>
  </p:sldIdLst>
  <p:sldSz cx="18288000" cy="10287000"/>
  <p:notesSz cx="6858000" cy="9144000"/>
  <p:embeddedFontLst>
    <p:embeddedFont>
      <p:font typeface="Calibri" panose="020F0502020204030204" pitchFamily="34" charset="0"/>
      <p:regular r:id="rId25"/>
      <p:bold r:id="rId26"/>
      <p:italic r:id="rId27"/>
      <p:boldItalic r:id="rId28"/>
    </p:embeddedFont>
    <p:embeddedFont>
      <p:font typeface="Cambria Math" panose="02040503050406030204" pitchFamily="18" charset="0"/>
      <p:regular r:id="rId29"/>
    </p:embeddedFont>
    <p:embeddedFont>
      <p:font typeface="TS Qamus" panose="020B0604020202020204" charset="-78"/>
      <p:regular r:id="rId30"/>
    </p:embeddedFont>
    <p:embeddedFont>
      <p:font typeface="TS Qamus Bold" panose="020B0604020202020204" charset="-78"/>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62" d="100"/>
          <a:sy n="62" d="100"/>
        </p:scale>
        <p:origin x="2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diagrams/_rels/data3.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image" Target="../media/image20.png"/></Relationships>
</file>

<file path=ppt/diagrams/_rels/drawing3.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45461-A504-4552-BD7B-4E4BB50369C5}" type="doc">
      <dgm:prSet loTypeId="urn:diagrams.loki3.com/BracketList" loCatId="list" qsTypeId="urn:microsoft.com/office/officeart/2005/8/quickstyle/simple1" qsCatId="simple" csTypeId="urn:microsoft.com/office/officeart/2005/8/colors/accent1_2" csCatId="accent1" phldr="1"/>
      <dgm:spPr/>
      <dgm:t>
        <a:bodyPr/>
        <a:lstStyle/>
        <a:p>
          <a:endParaRPr lang="en-IN"/>
        </a:p>
      </dgm:t>
    </dgm:pt>
    <dgm:pt modelId="{46EAC1FF-06FA-4259-BEA4-86DCDB7318BF}">
      <dgm:prSet phldrT="[Text]"/>
      <dgm:spPr/>
      <dgm:t>
        <a:bodyPr/>
        <a:lstStyle/>
        <a:p>
          <a:r>
            <a:rPr lang="en-US" dirty="0"/>
            <a:t>1</a:t>
          </a:r>
          <a:endParaRPr lang="en-IN" dirty="0"/>
        </a:p>
      </dgm:t>
    </dgm:pt>
    <dgm:pt modelId="{50626B31-E823-4290-AF80-35160D99F9D3}" type="parTrans" cxnId="{BF94E21D-870F-401A-96AA-5E64487A6577}">
      <dgm:prSet/>
      <dgm:spPr/>
      <dgm:t>
        <a:bodyPr/>
        <a:lstStyle/>
        <a:p>
          <a:endParaRPr lang="en-IN"/>
        </a:p>
      </dgm:t>
    </dgm:pt>
    <dgm:pt modelId="{77DCF424-23C8-43D8-A238-713B910D627D}" type="sibTrans" cxnId="{BF94E21D-870F-401A-96AA-5E64487A6577}">
      <dgm:prSet/>
      <dgm:spPr/>
      <dgm:t>
        <a:bodyPr/>
        <a:lstStyle/>
        <a:p>
          <a:endParaRPr lang="en-IN"/>
        </a:p>
      </dgm:t>
    </dgm:pt>
    <dgm:pt modelId="{D05DF7AE-9987-40D8-9F10-445A55430DEB}">
      <dgm:prSet phldrT="[Text]"/>
      <dgm:spPr/>
      <dgm:t>
        <a:bodyPr/>
        <a:lstStyle/>
        <a:p>
          <a:r>
            <a:rPr lang="en-US" dirty="0"/>
            <a:t>Increasing When 200+ Frequency</a:t>
          </a:r>
          <a:endParaRPr lang="en-IN" dirty="0"/>
        </a:p>
      </dgm:t>
    </dgm:pt>
    <dgm:pt modelId="{00A908B4-F510-4554-9EB0-F8249A592A0C}" type="parTrans" cxnId="{EB139F9E-C1CE-4A6D-8B6C-97CC0F2362C2}">
      <dgm:prSet/>
      <dgm:spPr/>
      <dgm:t>
        <a:bodyPr/>
        <a:lstStyle/>
        <a:p>
          <a:endParaRPr lang="en-IN"/>
        </a:p>
      </dgm:t>
    </dgm:pt>
    <dgm:pt modelId="{928BB5A6-BAB8-44F7-BFA2-4CEC21E7400A}" type="sibTrans" cxnId="{EB139F9E-C1CE-4A6D-8B6C-97CC0F2362C2}">
      <dgm:prSet/>
      <dgm:spPr/>
      <dgm:t>
        <a:bodyPr/>
        <a:lstStyle/>
        <a:p>
          <a:endParaRPr lang="en-IN"/>
        </a:p>
      </dgm:t>
    </dgm:pt>
    <dgm:pt modelId="{C3C7A587-CFE7-4E45-A63A-A86D323995D3}" type="pres">
      <dgm:prSet presAssocID="{9F045461-A504-4552-BD7B-4E4BB50369C5}" presName="Name0" presStyleCnt="0">
        <dgm:presLayoutVars>
          <dgm:dir/>
          <dgm:animLvl val="lvl"/>
          <dgm:resizeHandles val="exact"/>
        </dgm:presLayoutVars>
      </dgm:prSet>
      <dgm:spPr/>
    </dgm:pt>
    <dgm:pt modelId="{295E5B73-1CD5-42AE-B643-C250F457B457}" type="pres">
      <dgm:prSet presAssocID="{46EAC1FF-06FA-4259-BEA4-86DCDB7318BF}" presName="linNode" presStyleCnt="0"/>
      <dgm:spPr/>
    </dgm:pt>
    <dgm:pt modelId="{29735130-B6F9-438A-818A-E4AB9F99639C}" type="pres">
      <dgm:prSet presAssocID="{46EAC1FF-06FA-4259-BEA4-86DCDB7318BF}" presName="parTx" presStyleLbl="revTx" presStyleIdx="0" presStyleCnt="1">
        <dgm:presLayoutVars>
          <dgm:chMax val="1"/>
          <dgm:bulletEnabled val="1"/>
        </dgm:presLayoutVars>
      </dgm:prSet>
      <dgm:spPr/>
    </dgm:pt>
    <dgm:pt modelId="{F4CF45B1-921F-4818-94F0-3E4024E415F9}" type="pres">
      <dgm:prSet presAssocID="{46EAC1FF-06FA-4259-BEA4-86DCDB7318BF}" presName="bracket" presStyleLbl="parChTrans1D1" presStyleIdx="0" presStyleCnt="1"/>
      <dgm:spPr/>
    </dgm:pt>
    <dgm:pt modelId="{B2109045-9612-45CD-B996-04E82AB00D45}" type="pres">
      <dgm:prSet presAssocID="{46EAC1FF-06FA-4259-BEA4-86DCDB7318BF}" presName="spH" presStyleCnt="0"/>
      <dgm:spPr/>
    </dgm:pt>
    <dgm:pt modelId="{45F68949-F4FC-46A8-B81D-D0F82CA319FD}" type="pres">
      <dgm:prSet presAssocID="{46EAC1FF-06FA-4259-BEA4-86DCDB7318BF}" presName="desTx" presStyleLbl="node1" presStyleIdx="0" presStyleCnt="1" custScaleX="222256">
        <dgm:presLayoutVars>
          <dgm:bulletEnabled val="1"/>
        </dgm:presLayoutVars>
      </dgm:prSet>
      <dgm:spPr/>
    </dgm:pt>
  </dgm:ptLst>
  <dgm:cxnLst>
    <dgm:cxn modelId="{6F3B0B08-4D50-4B92-91B4-192E2138287C}" type="presOf" srcId="{D05DF7AE-9987-40D8-9F10-445A55430DEB}" destId="{45F68949-F4FC-46A8-B81D-D0F82CA319FD}" srcOrd="0" destOrd="0" presId="urn:diagrams.loki3.com/BracketList"/>
    <dgm:cxn modelId="{BF94E21D-870F-401A-96AA-5E64487A6577}" srcId="{9F045461-A504-4552-BD7B-4E4BB50369C5}" destId="{46EAC1FF-06FA-4259-BEA4-86DCDB7318BF}" srcOrd="0" destOrd="0" parTransId="{50626B31-E823-4290-AF80-35160D99F9D3}" sibTransId="{77DCF424-23C8-43D8-A238-713B910D627D}"/>
    <dgm:cxn modelId="{19D66452-D7BB-4B6F-A72E-05D9BDD88837}" type="presOf" srcId="{46EAC1FF-06FA-4259-BEA4-86DCDB7318BF}" destId="{29735130-B6F9-438A-818A-E4AB9F99639C}" srcOrd="0" destOrd="0" presId="urn:diagrams.loki3.com/BracketList"/>
    <dgm:cxn modelId="{8A86699D-16AD-4127-AB01-362D8611796F}" type="presOf" srcId="{9F045461-A504-4552-BD7B-4E4BB50369C5}" destId="{C3C7A587-CFE7-4E45-A63A-A86D323995D3}" srcOrd="0" destOrd="0" presId="urn:diagrams.loki3.com/BracketList"/>
    <dgm:cxn modelId="{EB139F9E-C1CE-4A6D-8B6C-97CC0F2362C2}" srcId="{46EAC1FF-06FA-4259-BEA4-86DCDB7318BF}" destId="{D05DF7AE-9987-40D8-9F10-445A55430DEB}" srcOrd="0" destOrd="0" parTransId="{00A908B4-F510-4554-9EB0-F8249A592A0C}" sibTransId="{928BB5A6-BAB8-44F7-BFA2-4CEC21E7400A}"/>
    <dgm:cxn modelId="{ED821A14-306C-4079-B930-0096C562CAED}" type="presParOf" srcId="{C3C7A587-CFE7-4E45-A63A-A86D323995D3}" destId="{295E5B73-1CD5-42AE-B643-C250F457B457}" srcOrd="0" destOrd="0" presId="urn:diagrams.loki3.com/BracketList"/>
    <dgm:cxn modelId="{F0855E6D-CD1A-4C1A-93CE-03E1256F59D1}" type="presParOf" srcId="{295E5B73-1CD5-42AE-B643-C250F457B457}" destId="{29735130-B6F9-438A-818A-E4AB9F99639C}" srcOrd="0" destOrd="0" presId="urn:diagrams.loki3.com/BracketList"/>
    <dgm:cxn modelId="{8E20328C-0902-4E88-9235-BD8342B50EEC}" type="presParOf" srcId="{295E5B73-1CD5-42AE-B643-C250F457B457}" destId="{F4CF45B1-921F-4818-94F0-3E4024E415F9}" srcOrd="1" destOrd="0" presId="urn:diagrams.loki3.com/BracketList"/>
    <dgm:cxn modelId="{E9998F89-8837-4FD8-9836-E7ECB2127CC5}" type="presParOf" srcId="{295E5B73-1CD5-42AE-B643-C250F457B457}" destId="{B2109045-9612-45CD-B996-04E82AB00D45}" srcOrd="2" destOrd="0" presId="urn:diagrams.loki3.com/BracketList"/>
    <dgm:cxn modelId="{41B791F4-7D9A-4125-8355-A7435AA7A171}" type="presParOf" srcId="{295E5B73-1CD5-42AE-B643-C250F457B457}" destId="{45F68949-F4FC-46A8-B81D-D0F82CA319FD}" srcOrd="3" destOrd="0" presId="urn:diagrams.loki3.com/Bracket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47CEF0-F9B2-4093-B4F5-9A27DB8FCA75}" type="doc">
      <dgm:prSet loTypeId="urn:microsoft.com/office/officeart/2011/layout/InterconnectedBlockProcess" loCatId="process" qsTypeId="urn:microsoft.com/office/officeart/2005/8/quickstyle/simple1" qsCatId="simple" csTypeId="urn:microsoft.com/office/officeart/2005/8/colors/accent1_2" csCatId="accent1" phldr="1"/>
      <dgm:spPr/>
      <dgm:t>
        <a:bodyPr/>
        <a:lstStyle/>
        <a:p>
          <a:endParaRPr lang="en-IN"/>
        </a:p>
      </dgm:t>
    </dgm:pt>
    <dgm:pt modelId="{439E43E1-E7C2-420E-A6F7-DB6A44A2A031}">
      <dgm:prSet phldrT="[Text]"/>
      <dgm:spPr/>
      <dgm:t>
        <a:bodyPr/>
        <a:lstStyle/>
        <a:p>
          <a:r>
            <a:rPr lang="en-US" dirty="0"/>
            <a:t>1</a:t>
          </a:r>
          <a:endParaRPr lang="en-IN" dirty="0"/>
        </a:p>
      </dgm:t>
    </dgm:pt>
    <dgm:pt modelId="{3445EFB5-18B7-41D4-803A-D8BFC129D41B}" type="parTrans" cxnId="{09061FAB-8895-4908-B19F-6D588C599047}">
      <dgm:prSet/>
      <dgm:spPr/>
      <dgm:t>
        <a:bodyPr/>
        <a:lstStyle/>
        <a:p>
          <a:endParaRPr lang="en-IN"/>
        </a:p>
      </dgm:t>
    </dgm:pt>
    <dgm:pt modelId="{D593B457-D223-4E3F-BB5F-CBDE62C1CDAC}" type="sibTrans" cxnId="{09061FAB-8895-4908-B19F-6D588C599047}">
      <dgm:prSet/>
      <dgm:spPr/>
      <dgm:t>
        <a:bodyPr/>
        <a:lstStyle/>
        <a:p>
          <a:endParaRPr lang="en-IN"/>
        </a:p>
      </dgm:t>
    </dgm:pt>
    <dgm:pt modelId="{7702A90A-30A4-4D89-B823-F2753EF067BC}">
      <dgm:prSet phldrT="[Text]"/>
      <dgm:spPr>
        <a:solidFill>
          <a:schemeClr val="accent5">
            <a:lumMod val="40000"/>
            <a:lumOff val="60000"/>
          </a:schemeClr>
        </a:solidFill>
      </dgm:spPr>
      <dgm:t>
        <a:bodyPr/>
        <a:lstStyle/>
        <a:p>
          <a:r>
            <a:rPr lang="en-US" dirty="0"/>
            <a:t>Proportional</a:t>
          </a:r>
          <a:endParaRPr lang="en-IN" dirty="0"/>
        </a:p>
      </dgm:t>
    </dgm:pt>
    <dgm:pt modelId="{17140122-8854-4307-AF63-778CE11BD63E}" type="parTrans" cxnId="{BA6AFF02-E4A4-4E58-8849-9633F3047A12}">
      <dgm:prSet/>
      <dgm:spPr/>
      <dgm:t>
        <a:bodyPr/>
        <a:lstStyle/>
        <a:p>
          <a:endParaRPr lang="en-IN"/>
        </a:p>
      </dgm:t>
    </dgm:pt>
    <dgm:pt modelId="{B0C6339C-902F-40EF-8BFE-0A7EBE20FB9B}" type="sibTrans" cxnId="{BA6AFF02-E4A4-4E58-8849-9633F3047A12}">
      <dgm:prSet/>
      <dgm:spPr/>
      <dgm:t>
        <a:bodyPr/>
        <a:lstStyle/>
        <a:p>
          <a:endParaRPr lang="en-IN"/>
        </a:p>
      </dgm:t>
    </dgm:pt>
    <dgm:pt modelId="{E1964635-2304-4F6A-B613-66AE4DB5FE59}">
      <dgm:prSet phldrT="[Text]"/>
      <dgm:spPr/>
      <dgm:t>
        <a:bodyPr/>
        <a:lstStyle/>
        <a:p>
          <a:r>
            <a:rPr lang="en-US" dirty="0"/>
            <a:t>2</a:t>
          </a:r>
          <a:endParaRPr lang="en-IN" dirty="0"/>
        </a:p>
      </dgm:t>
    </dgm:pt>
    <dgm:pt modelId="{1678C825-4AC0-4A84-A40D-19CD7AE84512}" type="parTrans" cxnId="{7DF78C06-AB5F-4217-827A-A3585B0BE01C}">
      <dgm:prSet/>
      <dgm:spPr/>
      <dgm:t>
        <a:bodyPr/>
        <a:lstStyle/>
        <a:p>
          <a:endParaRPr lang="en-IN"/>
        </a:p>
      </dgm:t>
    </dgm:pt>
    <dgm:pt modelId="{1580AD0D-9343-4737-8087-3D5F1CD3FA46}" type="sibTrans" cxnId="{7DF78C06-AB5F-4217-827A-A3585B0BE01C}">
      <dgm:prSet/>
      <dgm:spPr/>
      <dgm:t>
        <a:bodyPr/>
        <a:lstStyle/>
        <a:p>
          <a:endParaRPr lang="en-IN"/>
        </a:p>
      </dgm:t>
    </dgm:pt>
    <dgm:pt modelId="{D09CB644-AC02-4AB5-B2A0-26285C675BA1}">
      <dgm:prSet phldrT="[Text]"/>
      <dgm:spPr>
        <a:solidFill>
          <a:schemeClr val="accent2">
            <a:lumMod val="20000"/>
            <a:lumOff val="80000"/>
          </a:schemeClr>
        </a:solidFill>
      </dgm:spPr>
      <dgm:t>
        <a:bodyPr/>
        <a:lstStyle/>
        <a:p>
          <a:r>
            <a:rPr lang="en-US" dirty="0"/>
            <a:t>Tends To Base Frequency</a:t>
          </a:r>
          <a:endParaRPr lang="en-IN" dirty="0"/>
        </a:p>
      </dgm:t>
    </dgm:pt>
    <dgm:pt modelId="{1D085B43-05B1-47EA-A7BA-A12BC12AC050}" type="parTrans" cxnId="{46DE94D2-AFF7-423F-81DE-6ED3CC06DD55}">
      <dgm:prSet/>
      <dgm:spPr/>
      <dgm:t>
        <a:bodyPr/>
        <a:lstStyle/>
        <a:p>
          <a:endParaRPr lang="en-IN"/>
        </a:p>
      </dgm:t>
    </dgm:pt>
    <dgm:pt modelId="{B0EB1356-7CE4-4C31-ABFB-BB97EBFD9A8E}" type="sibTrans" cxnId="{46DE94D2-AFF7-423F-81DE-6ED3CC06DD55}">
      <dgm:prSet/>
      <dgm:spPr/>
      <dgm:t>
        <a:bodyPr/>
        <a:lstStyle/>
        <a:p>
          <a:endParaRPr lang="en-IN"/>
        </a:p>
      </dgm:t>
    </dgm:pt>
    <dgm:pt modelId="{6134C7F1-3C55-4CE2-9DEF-671FA053EC52}">
      <dgm:prSet phldrT="[Text]"/>
      <dgm:spPr/>
      <dgm:t>
        <a:bodyPr/>
        <a:lstStyle/>
        <a:p>
          <a:r>
            <a:rPr lang="en-US" dirty="0"/>
            <a:t>3</a:t>
          </a:r>
          <a:endParaRPr lang="en-IN" dirty="0"/>
        </a:p>
      </dgm:t>
    </dgm:pt>
    <dgm:pt modelId="{ADF07CB1-881A-4483-97BA-F925DCCEF7EC}" type="parTrans" cxnId="{FEA7A0BF-F171-4FC0-A469-58EC9EEC1B46}">
      <dgm:prSet/>
      <dgm:spPr/>
      <dgm:t>
        <a:bodyPr/>
        <a:lstStyle/>
        <a:p>
          <a:endParaRPr lang="en-IN"/>
        </a:p>
      </dgm:t>
    </dgm:pt>
    <dgm:pt modelId="{2FA8202B-D7DD-4C58-B744-D6F6F4B30779}" type="sibTrans" cxnId="{FEA7A0BF-F171-4FC0-A469-58EC9EEC1B46}">
      <dgm:prSet/>
      <dgm:spPr/>
      <dgm:t>
        <a:bodyPr/>
        <a:lstStyle/>
        <a:p>
          <a:endParaRPr lang="en-IN"/>
        </a:p>
      </dgm:t>
    </dgm:pt>
    <dgm:pt modelId="{BCBB8226-4A84-4F62-80E5-1DB987C6D8E1}">
      <dgm:prSet phldrT="[Text]"/>
      <dgm:spPr>
        <a:solidFill>
          <a:schemeClr val="accent3">
            <a:lumMod val="20000"/>
            <a:lumOff val="80000"/>
          </a:schemeClr>
        </a:solidFill>
      </dgm:spPr>
      <dgm:t>
        <a:bodyPr/>
        <a:lstStyle/>
        <a:p>
          <a:r>
            <a:rPr lang="en-US" dirty="0"/>
            <a:t>Data Coincides More</a:t>
          </a:r>
          <a:endParaRPr lang="en-IN" dirty="0"/>
        </a:p>
      </dgm:t>
    </dgm:pt>
    <dgm:pt modelId="{0618B90B-08B2-4743-AADB-AA60C31A9946}" type="parTrans" cxnId="{21894881-C50D-4167-94C0-3F8F7B5A7CD4}">
      <dgm:prSet/>
      <dgm:spPr/>
      <dgm:t>
        <a:bodyPr/>
        <a:lstStyle/>
        <a:p>
          <a:endParaRPr lang="en-IN"/>
        </a:p>
      </dgm:t>
    </dgm:pt>
    <dgm:pt modelId="{E9D1C84B-A78B-4453-9228-6470AC9F0AEA}" type="sibTrans" cxnId="{21894881-C50D-4167-94C0-3F8F7B5A7CD4}">
      <dgm:prSet/>
      <dgm:spPr/>
      <dgm:t>
        <a:bodyPr/>
        <a:lstStyle/>
        <a:p>
          <a:endParaRPr lang="en-IN"/>
        </a:p>
      </dgm:t>
    </dgm:pt>
    <dgm:pt modelId="{DDCE7115-0177-4E9C-9D62-1C7E69A9EE65}" type="pres">
      <dgm:prSet presAssocID="{AC47CEF0-F9B2-4093-B4F5-9A27DB8FCA75}" presName="Name0" presStyleCnt="0">
        <dgm:presLayoutVars>
          <dgm:chMax val="7"/>
          <dgm:chPref val="5"/>
          <dgm:dir/>
          <dgm:animOne val="branch"/>
          <dgm:animLvl val="lvl"/>
        </dgm:presLayoutVars>
      </dgm:prSet>
      <dgm:spPr/>
    </dgm:pt>
    <dgm:pt modelId="{2216A405-87E5-44D5-8CF5-3525B1AEC79D}" type="pres">
      <dgm:prSet presAssocID="{6134C7F1-3C55-4CE2-9DEF-671FA053EC52}" presName="ChildAccent3" presStyleCnt="0"/>
      <dgm:spPr/>
    </dgm:pt>
    <dgm:pt modelId="{7A828C8C-49BC-4A52-AA40-6CF27B7079A0}" type="pres">
      <dgm:prSet presAssocID="{6134C7F1-3C55-4CE2-9DEF-671FA053EC52}" presName="ChildAccent" presStyleLbl="alignImgPlace1" presStyleIdx="0" presStyleCnt="3"/>
      <dgm:spPr/>
    </dgm:pt>
    <dgm:pt modelId="{93D9B339-EE7D-4C4A-9507-24F7F0112177}" type="pres">
      <dgm:prSet presAssocID="{6134C7F1-3C55-4CE2-9DEF-671FA053EC52}" presName="Child3" presStyleLbl="revTx" presStyleIdx="0" presStyleCnt="0">
        <dgm:presLayoutVars>
          <dgm:chMax val="0"/>
          <dgm:chPref val="0"/>
          <dgm:bulletEnabled val="1"/>
        </dgm:presLayoutVars>
      </dgm:prSet>
      <dgm:spPr/>
    </dgm:pt>
    <dgm:pt modelId="{93660896-A96F-4E17-B8EC-48861C87108A}" type="pres">
      <dgm:prSet presAssocID="{6134C7F1-3C55-4CE2-9DEF-671FA053EC52}" presName="Parent3" presStyleLbl="node1" presStyleIdx="0" presStyleCnt="3">
        <dgm:presLayoutVars>
          <dgm:chMax val="2"/>
          <dgm:chPref val="1"/>
          <dgm:bulletEnabled val="1"/>
        </dgm:presLayoutVars>
      </dgm:prSet>
      <dgm:spPr/>
    </dgm:pt>
    <dgm:pt modelId="{E441482A-A0F7-4856-B6A8-80FF0FC937EB}" type="pres">
      <dgm:prSet presAssocID="{E1964635-2304-4F6A-B613-66AE4DB5FE59}" presName="ChildAccent2" presStyleCnt="0"/>
      <dgm:spPr/>
    </dgm:pt>
    <dgm:pt modelId="{4A4F0B44-0CE0-4E79-AF8E-1BA82357CF9F}" type="pres">
      <dgm:prSet presAssocID="{E1964635-2304-4F6A-B613-66AE4DB5FE59}" presName="ChildAccent" presStyleLbl="alignImgPlace1" presStyleIdx="1" presStyleCnt="3"/>
      <dgm:spPr/>
    </dgm:pt>
    <dgm:pt modelId="{288B2A12-36BD-4E95-A25F-37B4F8BE148B}" type="pres">
      <dgm:prSet presAssocID="{E1964635-2304-4F6A-B613-66AE4DB5FE59}" presName="Child2" presStyleLbl="revTx" presStyleIdx="0" presStyleCnt="0">
        <dgm:presLayoutVars>
          <dgm:chMax val="0"/>
          <dgm:chPref val="0"/>
          <dgm:bulletEnabled val="1"/>
        </dgm:presLayoutVars>
      </dgm:prSet>
      <dgm:spPr/>
    </dgm:pt>
    <dgm:pt modelId="{684CFFDD-7298-4BDA-9E7A-C03CF8606C3B}" type="pres">
      <dgm:prSet presAssocID="{E1964635-2304-4F6A-B613-66AE4DB5FE59}" presName="Parent2" presStyleLbl="node1" presStyleIdx="1" presStyleCnt="3">
        <dgm:presLayoutVars>
          <dgm:chMax val="2"/>
          <dgm:chPref val="1"/>
          <dgm:bulletEnabled val="1"/>
        </dgm:presLayoutVars>
      </dgm:prSet>
      <dgm:spPr/>
    </dgm:pt>
    <dgm:pt modelId="{2C38E574-EF67-4065-BC9E-747F6A9A406F}" type="pres">
      <dgm:prSet presAssocID="{439E43E1-E7C2-420E-A6F7-DB6A44A2A031}" presName="ChildAccent1" presStyleCnt="0"/>
      <dgm:spPr/>
    </dgm:pt>
    <dgm:pt modelId="{30100F59-6B3A-407A-9FAE-C21037A4CE0F}" type="pres">
      <dgm:prSet presAssocID="{439E43E1-E7C2-420E-A6F7-DB6A44A2A031}" presName="ChildAccent" presStyleLbl="alignImgPlace1" presStyleIdx="2" presStyleCnt="3"/>
      <dgm:spPr/>
    </dgm:pt>
    <dgm:pt modelId="{32EBA406-754F-4AEB-A3EC-4C2F8AA49869}" type="pres">
      <dgm:prSet presAssocID="{439E43E1-E7C2-420E-A6F7-DB6A44A2A031}" presName="Child1" presStyleLbl="revTx" presStyleIdx="0" presStyleCnt="0">
        <dgm:presLayoutVars>
          <dgm:chMax val="0"/>
          <dgm:chPref val="0"/>
          <dgm:bulletEnabled val="1"/>
        </dgm:presLayoutVars>
      </dgm:prSet>
      <dgm:spPr/>
    </dgm:pt>
    <dgm:pt modelId="{8798AC5E-767D-4F5A-9897-4FB84EAF812F}" type="pres">
      <dgm:prSet presAssocID="{439E43E1-E7C2-420E-A6F7-DB6A44A2A031}" presName="Parent1" presStyleLbl="node1" presStyleIdx="2" presStyleCnt="3">
        <dgm:presLayoutVars>
          <dgm:chMax val="2"/>
          <dgm:chPref val="1"/>
          <dgm:bulletEnabled val="1"/>
        </dgm:presLayoutVars>
      </dgm:prSet>
      <dgm:spPr/>
    </dgm:pt>
  </dgm:ptLst>
  <dgm:cxnLst>
    <dgm:cxn modelId="{BA6AFF02-E4A4-4E58-8849-9633F3047A12}" srcId="{439E43E1-E7C2-420E-A6F7-DB6A44A2A031}" destId="{7702A90A-30A4-4D89-B823-F2753EF067BC}" srcOrd="0" destOrd="0" parTransId="{17140122-8854-4307-AF63-778CE11BD63E}" sibTransId="{B0C6339C-902F-40EF-8BFE-0A7EBE20FB9B}"/>
    <dgm:cxn modelId="{7DF78C06-AB5F-4217-827A-A3585B0BE01C}" srcId="{AC47CEF0-F9B2-4093-B4F5-9A27DB8FCA75}" destId="{E1964635-2304-4F6A-B613-66AE4DB5FE59}" srcOrd="1" destOrd="0" parTransId="{1678C825-4AC0-4A84-A40D-19CD7AE84512}" sibTransId="{1580AD0D-9343-4737-8087-3D5F1CD3FA46}"/>
    <dgm:cxn modelId="{8107E125-13F2-49CB-ADF6-AFDA9A411CB6}" type="presOf" srcId="{D09CB644-AC02-4AB5-B2A0-26285C675BA1}" destId="{288B2A12-36BD-4E95-A25F-37B4F8BE148B}" srcOrd="1" destOrd="0" presId="urn:microsoft.com/office/officeart/2011/layout/InterconnectedBlockProcess"/>
    <dgm:cxn modelId="{D6032628-6CAD-4DDE-A67C-E867984907C0}" type="presOf" srcId="{E1964635-2304-4F6A-B613-66AE4DB5FE59}" destId="{684CFFDD-7298-4BDA-9E7A-C03CF8606C3B}" srcOrd="0" destOrd="0" presId="urn:microsoft.com/office/officeart/2011/layout/InterconnectedBlockProcess"/>
    <dgm:cxn modelId="{1DCB7769-D7A8-4816-88BC-E99DC3DB77B5}" type="presOf" srcId="{7702A90A-30A4-4D89-B823-F2753EF067BC}" destId="{32EBA406-754F-4AEB-A3EC-4C2F8AA49869}" srcOrd="1" destOrd="0" presId="urn:microsoft.com/office/officeart/2011/layout/InterconnectedBlockProcess"/>
    <dgm:cxn modelId="{21894881-C50D-4167-94C0-3F8F7B5A7CD4}" srcId="{6134C7F1-3C55-4CE2-9DEF-671FA053EC52}" destId="{BCBB8226-4A84-4F62-80E5-1DB987C6D8E1}" srcOrd="0" destOrd="0" parTransId="{0618B90B-08B2-4743-AADB-AA60C31A9946}" sibTransId="{E9D1C84B-A78B-4453-9228-6470AC9F0AEA}"/>
    <dgm:cxn modelId="{8A02838B-5093-4ABA-A663-026959B97578}" type="presOf" srcId="{6134C7F1-3C55-4CE2-9DEF-671FA053EC52}" destId="{93660896-A96F-4E17-B8EC-48861C87108A}" srcOrd="0" destOrd="0" presId="urn:microsoft.com/office/officeart/2011/layout/InterconnectedBlockProcess"/>
    <dgm:cxn modelId="{2931D18D-F4D2-4FF6-9AE2-D01F19D00C41}" type="presOf" srcId="{D09CB644-AC02-4AB5-B2A0-26285C675BA1}" destId="{4A4F0B44-0CE0-4E79-AF8E-1BA82357CF9F}" srcOrd="0" destOrd="0" presId="urn:microsoft.com/office/officeart/2011/layout/InterconnectedBlockProcess"/>
    <dgm:cxn modelId="{3EAA018E-68B1-4118-8CA2-4344B7F294DC}" type="presOf" srcId="{BCBB8226-4A84-4F62-80E5-1DB987C6D8E1}" destId="{93D9B339-EE7D-4C4A-9507-24F7F0112177}" srcOrd="1" destOrd="0" presId="urn:microsoft.com/office/officeart/2011/layout/InterconnectedBlockProcess"/>
    <dgm:cxn modelId="{09061FAB-8895-4908-B19F-6D588C599047}" srcId="{AC47CEF0-F9B2-4093-B4F5-9A27DB8FCA75}" destId="{439E43E1-E7C2-420E-A6F7-DB6A44A2A031}" srcOrd="0" destOrd="0" parTransId="{3445EFB5-18B7-41D4-803A-D8BFC129D41B}" sibTransId="{D593B457-D223-4E3F-BB5F-CBDE62C1CDAC}"/>
    <dgm:cxn modelId="{FEA7A0BF-F171-4FC0-A469-58EC9EEC1B46}" srcId="{AC47CEF0-F9B2-4093-B4F5-9A27DB8FCA75}" destId="{6134C7F1-3C55-4CE2-9DEF-671FA053EC52}" srcOrd="2" destOrd="0" parTransId="{ADF07CB1-881A-4483-97BA-F925DCCEF7EC}" sibTransId="{2FA8202B-D7DD-4C58-B744-D6F6F4B30779}"/>
    <dgm:cxn modelId="{46DE94D2-AFF7-423F-81DE-6ED3CC06DD55}" srcId="{E1964635-2304-4F6A-B613-66AE4DB5FE59}" destId="{D09CB644-AC02-4AB5-B2A0-26285C675BA1}" srcOrd="0" destOrd="0" parTransId="{1D085B43-05B1-47EA-A7BA-A12BC12AC050}" sibTransId="{B0EB1356-7CE4-4C31-ABFB-BB97EBFD9A8E}"/>
    <dgm:cxn modelId="{436618D3-F358-4C09-BB26-95A4A8AC1FF4}" type="presOf" srcId="{7702A90A-30A4-4D89-B823-F2753EF067BC}" destId="{30100F59-6B3A-407A-9FAE-C21037A4CE0F}" srcOrd="0" destOrd="0" presId="urn:microsoft.com/office/officeart/2011/layout/InterconnectedBlockProcess"/>
    <dgm:cxn modelId="{7154EBDF-4E6E-4F46-BA77-C77F399309C3}" type="presOf" srcId="{BCBB8226-4A84-4F62-80E5-1DB987C6D8E1}" destId="{7A828C8C-49BC-4A52-AA40-6CF27B7079A0}" srcOrd="0" destOrd="0" presId="urn:microsoft.com/office/officeart/2011/layout/InterconnectedBlockProcess"/>
    <dgm:cxn modelId="{692487F0-CAE3-4571-868E-C8EED1FED9B8}" type="presOf" srcId="{AC47CEF0-F9B2-4093-B4F5-9A27DB8FCA75}" destId="{DDCE7115-0177-4E9C-9D62-1C7E69A9EE65}" srcOrd="0" destOrd="0" presId="urn:microsoft.com/office/officeart/2011/layout/InterconnectedBlockProcess"/>
    <dgm:cxn modelId="{CB23C1F3-0429-4054-AD78-D807EF3AD7A5}" type="presOf" srcId="{439E43E1-E7C2-420E-A6F7-DB6A44A2A031}" destId="{8798AC5E-767D-4F5A-9897-4FB84EAF812F}" srcOrd="0" destOrd="0" presId="urn:microsoft.com/office/officeart/2011/layout/InterconnectedBlockProcess"/>
    <dgm:cxn modelId="{21FC3C22-C10B-4CC8-A941-9C6E9E112056}" type="presParOf" srcId="{DDCE7115-0177-4E9C-9D62-1C7E69A9EE65}" destId="{2216A405-87E5-44D5-8CF5-3525B1AEC79D}" srcOrd="0" destOrd="0" presId="urn:microsoft.com/office/officeart/2011/layout/InterconnectedBlockProcess"/>
    <dgm:cxn modelId="{6E1D1458-78CA-48F6-8676-4222B8769316}" type="presParOf" srcId="{2216A405-87E5-44D5-8CF5-3525B1AEC79D}" destId="{7A828C8C-49BC-4A52-AA40-6CF27B7079A0}" srcOrd="0" destOrd="0" presId="urn:microsoft.com/office/officeart/2011/layout/InterconnectedBlockProcess"/>
    <dgm:cxn modelId="{9F8659EF-3F34-44B5-AB9E-5909B466BD8D}" type="presParOf" srcId="{DDCE7115-0177-4E9C-9D62-1C7E69A9EE65}" destId="{93D9B339-EE7D-4C4A-9507-24F7F0112177}" srcOrd="1" destOrd="0" presId="urn:microsoft.com/office/officeart/2011/layout/InterconnectedBlockProcess"/>
    <dgm:cxn modelId="{D93277F1-1E4D-4336-A387-C332DE76E6D4}" type="presParOf" srcId="{DDCE7115-0177-4E9C-9D62-1C7E69A9EE65}" destId="{93660896-A96F-4E17-B8EC-48861C87108A}" srcOrd="2" destOrd="0" presId="urn:microsoft.com/office/officeart/2011/layout/InterconnectedBlockProcess"/>
    <dgm:cxn modelId="{77705602-3800-47A6-A8AD-86C97383E911}" type="presParOf" srcId="{DDCE7115-0177-4E9C-9D62-1C7E69A9EE65}" destId="{E441482A-A0F7-4856-B6A8-80FF0FC937EB}" srcOrd="3" destOrd="0" presId="urn:microsoft.com/office/officeart/2011/layout/InterconnectedBlockProcess"/>
    <dgm:cxn modelId="{0EA3B9F2-B6F8-4DE9-9C2A-199186AD1887}" type="presParOf" srcId="{E441482A-A0F7-4856-B6A8-80FF0FC937EB}" destId="{4A4F0B44-0CE0-4E79-AF8E-1BA82357CF9F}" srcOrd="0" destOrd="0" presId="urn:microsoft.com/office/officeart/2011/layout/InterconnectedBlockProcess"/>
    <dgm:cxn modelId="{DDE1AE1A-8ECB-4E06-9C20-C326C1C22F02}" type="presParOf" srcId="{DDCE7115-0177-4E9C-9D62-1C7E69A9EE65}" destId="{288B2A12-36BD-4E95-A25F-37B4F8BE148B}" srcOrd="4" destOrd="0" presId="urn:microsoft.com/office/officeart/2011/layout/InterconnectedBlockProcess"/>
    <dgm:cxn modelId="{D5EEB6F0-EC83-428C-9BC4-88125A9108F6}" type="presParOf" srcId="{DDCE7115-0177-4E9C-9D62-1C7E69A9EE65}" destId="{684CFFDD-7298-4BDA-9E7A-C03CF8606C3B}" srcOrd="5" destOrd="0" presId="urn:microsoft.com/office/officeart/2011/layout/InterconnectedBlockProcess"/>
    <dgm:cxn modelId="{4A07C040-214C-45D4-9019-F1C5D5CCBEAB}" type="presParOf" srcId="{DDCE7115-0177-4E9C-9D62-1C7E69A9EE65}" destId="{2C38E574-EF67-4065-BC9E-747F6A9A406F}" srcOrd="6" destOrd="0" presId="urn:microsoft.com/office/officeart/2011/layout/InterconnectedBlockProcess"/>
    <dgm:cxn modelId="{FED0F428-5B80-4A52-A908-07E8E6CABAFE}" type="presParOf" srcId="{2C38E574-EF67-4065-BC9E-747F6A9A406F}" destId="{30100F59-6B3A-407A-9FAE-C21037A4CE0F}" srcOrd="0" destOrd="0" presId="urn:microsoft.com/office/officeart/2011/layout/InterconnectedBlockProcess"/>
    <dgm:cxn modelId="{7DD6A098-14AA-45D8-9E6A-BCA3DE456EE4}" type="presParOf" srcId="{DDCE7115-0177-4E9C-9D62-1C7E69A9EE65}" destId="{32EBA406-754F-4AEB-A3EC-4C2F8AA49869}" srcOrd="7" destOrd="0" presId="urn:microsoft.com/office/officeart/2011/layout/InterconnectedBlockProcess"/>
    <dgm:cxn modelId="{1A28B52C-71FE-48EC-A438-A6125B25984D}" type="presParOf" srcId="{DDCE7115-0177-4E9C-9D62-1C7E69A9EE65}" destId="{8798AC5E-767D-4F5A-9897-4FB84EAF812F}" srcOrd="8" destOrd="0" presId="urn:microsoft.com/office/officeart/2011/layout/InterconnectedBlock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26D6B8F-FB2F-41A4-A84F-39DBC2AEC3EA}" type="doc">
      <dgm:prSet loTypeId="urn:microsoft.com/office/officeart/2009/3/layout/SnapshotPictureList" loCatId="picture" qsTypeId="urn:microsoft.com/office/officeart/2005/8/quickstyle/simple1" qsCatId="simple" csTypeId="urn:microsoft.com/office/officeart/2005/8/colors/accent1_5" csCatId="accent1" phldr="1"/>
      <dgm:spPr/>
      <dgm:t>
        <a:bodyPr/>
        <a:lstStyle/>
        <a:p>
          <a:endParaRPr lang="en-IN"/>
        </a:p>
      </dgm:t>
    </dgm:pt>
    <dgm:pt modelId="{963CD12A-F925-4C13-8C90-BA61CF674CD9}">
      <dgm:prSet phldrT="[Text]" custT="1"/>
      <dgm:spPr/>
      <dgm:t>
        <a:bodyPr/>
        <a:lstStyle/>
        <a:p>
          <a:r>
            <a:rPr lang="en-US" sz="4400" b="1" dirty="0">
              <a:latin typeface="Times New Roman" panose="02020603050405020304" pitchFamily="18" charset="0"/>
              <a:cs typeface="Times New Roman" panose="02020603050405020304" pitchFamily="18" charset="0"/>
            </a:rPr>
            <a:t>Proportional</a:t>
          </a:r>
          <a:endParaRPr lang="en-IN" sz="4400" b="1" dirty="0">
            <a:latin typeface="Times New Roman" panose="02020603050405020304" pitchFamily="18" charset="0"/>
            <a:cs typeface="Times New Roman" panose="02020603050405020304" pitchFamily="18" charset="0"/>
          </a:endParaRPr>
        </a:p>
      </dgm:t>
    </dgm:pt>
    <dgm:pt modelId="{137B5665-4690-472A-9406-DBCB52452D11}" type="parTrans" cxnId="{B6BC6EF1-44ED-4AFA-ACB5-1A3C239380E1}">
      <dgm:prSet/>
      <dgm:spPr/>
      <dgm:t>
        <a:bodyPr/>
        <a:lstStyle/>
        <a:p>
          <a:endParaRPr lang="en-IN"/>
        </a:p>
      </dgm:t>
    </dgm:pt>
    <dgm:pt modelId="{BABE7846-49CB-46B7-BF57-6A337454EF90}" type="sibTrans" cxnId="{B6BC6EF1-44ED-4AFA-ACB5-1A3C239380E1}">
      <dgm:prSet/>
      <dgm:spPr/>
      <dgm:t>
        <a:bodyPr/>
        <a:lstStyle/>
        <a:p>
          <a:endParaRPr lang="en-IN"/>
        </a:p>
      </dgm:t>
    </dgm:pt>
    <dgm:pt modelId="{22C1B848-F060-435B-BA7C-B5EF9306289A}">
      <dgm:prSet phldrT="[Text]" custT="1"/>
      <dgm:spPr/>
      <dgm:t>
        <a:bodyPr/>
        <a:lstStyle/>
        <a:p>
          <a:r>
            <a:rPr lang="en-US" sz="3200" b="1" dirty="0">
              <a:latin typeface="Times New Roman" panose="02020603050405020304" pitchFamily="18" charset="0"/>
              <a:cs typeface="Times New Roman" panose="02020603050405020304" pitchFamily="18" charset="0"/>
            </a:rPr>
            <a:t>Increasing</a:t>
          </a:r>
          <a:endParaRPr lang="en-IN" sz="3200" b="1" dirty="0">
            <a:latin typeface="Times New Roman" panose="02020603050405020304" pitchFamily="18" charset="0"/>
            <a:cs typeface="Times New Roman" panose="02020603050405020304" pitchFamily="18" charset="0"/>
          </a:endParaRPr>
        </a:p>
      </dgm:t>
    </dgm:pt>
    <dgm:pt modelId="{1C7D7A07-81E0-4968-8EC0-08650736E36C}" type="parTrans" cxnId="{3C7F506B-6688-4A5B-B3A3-EFA48EF01745}">
      <dgm:prSet/>
      <dgm:spPr/>
      <dgm:t>
        <a:bodyPr/>
        <a:lstStyle/>
        <a:p>
          <a:endParaRPr lang="en-IN"/>
        </a:p>
      </dgm:t>
    </dgm:pt>
    <dgm:pt modelId="{797517FB-5ED3-4CC5-AFC3-4B419BB853FA}" type="sibTrans" cxnId="{3C7F506B-6688-4A5B-B3A3-EFA48EF01745}">
      <dgm:prSet/>
      <dgm:spPr/>
      <dgm:t>
        <a:bodyPr/>
        <a:lstStyle/>
        <a:p>
          <a:endParaRPr lang="en-IN"/>
        </a:p>
      </dgm:t>
    </dgm:pt>
    <dgm:pt modelId="{8808CD38-C527-4384-905A-4275B516C026}" type="pres">
      <dgm:prSet presAssocID="{426D6B8F-FB2F-41A4-A84F-39DBC2AEC3EA}" presName="Name0" presStyleCnt="0">
        <dgm:presLayoutVars>
          <dgm:chMax/>
          <dgm:chPref/>
          <dgm:dir/>
          <dgm:animLvl val="lvl"/>
        </dgm:presLayoutVars>
      </dgm:prSet>
      <dgm:spPr/>
    </dgm:pt>
    <dgm:pt modelId="{96FD8BAE-6713-4F03-9449-96C863FF351B}" type="pres">
      <dgm:prSet presAssocID="{963CD12A-F925-4C13-8C90-BA61CF674CD9}" presName="composite" presStyleCnt="0"/>
      <dgm:spPr/>
    </dgm:pt>
    <dgm:pt modelId="{CED4D7DA-15FC-40E3-847B-508E8FA703DC}" type="pres">
      <dgm:prSet presAssocID="{963CD12A-F925-4C13-8C90-BA61CF674CD9}" presName="ParentAccentShape" presStyleLbl="trBgShp" presStyleIdx="0" presStyleCnt="2"/>
      <dgm:spPr>
        <a:ln>
          <a:solidFill>
            <a:srgbClr val="002060"/>
          </a:solidFill>
        </a:ln>
      </dgm:spPr>
    </dgm:pt>
    <dgm:pt modelId="{99308850-4831-4129-8EE1-9C3D91E247F7}" type="pres">
      <dgm:prSet presAssocID="{963CD12A-F925-4C13-8C90-BA61CF674CD9}" presName="ParentText" presStyleLbl="revTx" presStyleIdx="0" presStyleCnt="2" custScaleX="119471" custScaleY="228527">
        <dgm:presLayoutVars>
          <dgm:chMax val="1"/>
          <dgm:chPref val="1"/>
          <dgm:bulletEnabled val="1"/>
        </dgm:presLayoutVars>
      </dgm:prSet>
      <dgm:spPr/>
    </dgm:pt>
    <dgm:pt modelId="{32C45C69-E67A-4F64-9102-72E5F87632C9}" type="pres">
      <dgm:prSet presAssocID="{963CD12A-F925-4C13-8C90-BA61CF674CD9}" presName="ChildText" presStyleLbl="revTx" presStyleIdx="1" presStyleCnt="2">
        <dgm:presLayoutVars>
          <dgm:chMax val="0"/>
          <dgm:chPref val="0"/>
        </dgm:presLayoutVars>
      </dgm:prSet>
      <dgm:spPr/>
    </dgm:pt>
    <dgm:pt modelId="{E0BD3601-4B50-4E6B-95DC-52AEDC3BC9FC}" type="pres">
      <dgm:prSet presAssocID="{963CD12A-F925-4C13-8C90-BA61CF674CD9}" presName="ChildAccentShape" presStyleLbl="trBgShp" presStyleIdx="1" presStyleCnt="2"/>
      <dgm:spPr/>
    </dgm:pt>
    <dgm:pt modelId="{D32B595B-EDE3-4976-94B3-26C120087F29}" type="pres">
      <dgm:prSet presAssocID="{963CD12A-F925-4C13-8C90-BA61CF674CD9}" presName="Image" presStyleLbl="alignImgPlace1" presStyleIdx="0" presStyleCnt="1" custScaleX="109976" custScaleY="74753" custLinFactNeighborX="4967" custLinFactNeighborY="9298">
        <dgm:style>
          <a:lnRef idx="0">
            <a:scrgbClr r="0" g="0" b="0"/>
          </a:lnRef>
          <a:fillRef idx="0">
            <a:scrgbClr r="0" g="0" b="0"/>
          </a:fillRef>
          <a:effectRef idx="0">
            <a:scrgbClr r="0" g="0" b="0"/>
          </a:effectRef>
          <a:fontRef idx="minor">
            <a:schemeClr val="accent3"/>
          </a:fontRef>
        </dgm:style>
      </dgm:prSet>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21000" b="-21000"/>
          </a:stretch>
        </a:blipFill>
        <a:ln>
          <a:solidFill>
            <a:schemeClr val="bg2">
              <a:lumMod val="50000"/>
            </a:schemeClr>
          </a:solidFill>
        </a:ln>
      </dgm:spPr>
      <dgm:extLst>
        <a:ext uri="{E40237B7-FDA0-4F09-8148-C483321AD2D9}">
          <dgm14:cNvPr xmlns:dgm14="http://schemas.microsoft.com/office/drawing/2010/diagram" id="0" name="" descr="Bar graph with upward trend"/>
        </a:ext>
      </dgm:extLst>
    </dgm:pt>
  </dgm:ptLst>
  <dgm:cxnLst>
    <dgm:cxn modelId="{5726EE65-16DE-48A6-ADBD-A510166F663A}" type="presOf" srcId="{22C1B848-F060-435B-BA7C-B5EF9306289A}" destId="{32C45C69-E67A-4F64-9102-72E5F87632C9}" srcOrd="0" destOrd="0" presId="urn:microsoft.com/office/officeart/2009/3/layout/SnapshotPictureList"/>
    <dgm:cxn modelId="{3C7F506B-6688-4A5B-B3A3-EFA48EF01745}" srcId="{963CD12A-F925-4C13-8C90-BA61CF674CD9}" destId="{22C1B848-F060-435B-BA7C-B5EF9306289A}" srcOrd="0" destOrd="0" parTransId="{1C7D7A07-81E0-4968-8EC0-08650736E36C}" sibTransId="{797517FB-5ED3-4CC5-AFC3-4B419BB853FA}"/>
    <dgm:cxn modelId="{9FF02E4F-EE4B-44A5-AD79-E6805B83E1E2}" type="presOf" srcId="{426D6B8F-FB2F-41A4-A84F-39DBC2AEC3EA}" destId="{8808CD38-C527-4384-905A-4275B516C026}" srcOrd="0" destOrd="0" presId="urn:microsoft.com/office/officeart/2009/3/layout/SnapshotPictureList"/>
    <dgm:cxn modelId="{3B2829DB-DBC9-4D4E-9B3B-C7DC0E70F940}" type="presOf" srcId="{963CD12A-F925-4C13-8C90-BA61CF674CD9}" destId="{99308850-4831-4129-8EE1-9C3D91E247F7}" srcOrd="0" destOrd="0" presId="urn:microsoft.com/office/officeart/2009/3/layout/SnapshotPictureList"/>
    <dgm:cxn modelId="{B6BC6EF1-44ED-4AFA-ACB5-1A3C239380E1}" srcId="{426D6B8F-FB2F-41A4-A84F-39DBC2AEC3EA}" destId="{963CD12A-F925-4C13-8C90-BA61CF674CD9}" srcOrd="0" destOrd="0" parTransId="{137B5665-4690-472A-9406-DBCB52452D11}" sibTransId="{BABE7846-49CB-46B7-BF57-6A337454EF90}"/>
    <dgm:cxn modelId="{5301E107-6DC3-4A7B-BCC5-71C016D72595}" type="presParOf" srcId="{8808CD38-C527-4384-905A-4275B516C026}" destId="{96FD8BAE-6713-4F03-9449-96C863FF351B}" srcOrd="0" destOrd="0" presId="urn:microsoft.com/office/officeart/2009/3/layout/SnapshotPictureList"/>
    <dgm:cxn modelId="{EDF4E7CB-7660-486E-A221-72B03BBF296B}" type="presParOf" srcId="{96FD8BAE-6713-4F03-9449-96C863FF351B}" destId="{CED4D7DA-15FC-40E3-847B-508E8FA703DC}" srcOrd="0" destOrd="0" presId="urn:microsoft.com/office/officeart/2009/3/layout/SnapshotPictureList"/>
    <dgm:cxn modelId="{98C24BAB-8527-4490-8F69-8C4494F44A00}" type="presParOf" srcId="{96FD8BAE-6713-4F03-9449-96C863FF351B}" destId="{99308850-4831-4129-8EE1-9C3D91E247F7}" srcOrd="1" destOrd="0" presId="urn:microsoft.com/office/officeart/2009/3/layout/SnapshotPictureList"/>
    <dgm:cxn modelId="{901EFB59-A6FB-43BD-9E69-B43B32D65FF6}" type="presParOf" srcId="{96FD8BAE-6713-4F03-9449-96C863FF351B}" destId="{32C45C69-E67A-4F64-9102-72E5F87632C9}" srcOrd="2" destOrd="0" presId="urn:microsoft.com/office/officeart/2009/3/layout/SnapshotPictureList"/>
    <dgm:cxn modelId="{98E1CCBC-FB35-4C8B-9CF2-99F4F0EA5FFE}" type="presParOf" srcId="{96FD8BAE-6713-4F03-9449-96C863FF351B}" destId="{E0BD3601-4B50-4E6B-95DC-52AEDC3BC9FC}" srcOrd="3" destOrd="0" presId="urn:microsoft.com/office/officeart/2009/3/layout/SnapshotPictureList"/>
    <dgm:cxn modelId="{4135F108-B2F5-4963-AB83-58BB7C290E31}" type="presParOf" srcId="{96FD8BAE-6713-4F03-9449-96C863FF351B}" destId="{D32B595B-EDE3-4976-94B3-26C120087F29}" srcOrd="4" destOrd="0" presId="urn:microsoft.com/office/officeart/2009/3/layout/SnapshotPictur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35130-B6F9-438A-818A-E4AB9F99639C}">
      <dsp:nvSpPr>
        <dsp:cNvPr id="0" name=""/>
        <dsp:cNvSpPr/>
      </dsp:nvSpPr>
      <dsp:spPr>
        <a:xfrm>
          <a:off x="885" y="2873500"/>
          <a:ext cx="882442" cy="831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8704" tIns="106680" rIns="298704" bIns="106680" numCol="1" spcCol="1270" anchor="ctr" anchorCtr="0">
          <a:noAutofit/>
        </a:bodyPr>
        <a:lstStyle/>
        <a:p>
          <a:pPr marL="0" lvl="0" indent="0" algn="r" defTabSz="1866900">
            <a:lnSpc>
              <a:spcPct val="90000"/>
            </a:lnSpc>
            <a:spcBef>
              <a:spcPct val="0"/>
            </a:spcBef>
            <a:spcAft>
              <a:spcPct val="35000"/>
            </a:spcAft>
            <a:buNone/>
          </a:pPr>
          <a:r>
            <a:rPr lang="en-US" sz="4200" kern="1200" dirty="0"/>
            <a:t>1</a:t>
          </a:r>
          <a:endParaRPr lang="en-IN" sz="4200" kern="1200" dirty="0"/>
        </a:p>
      </dsp:txBody>
      <dsp:txXfrm>
        <a:off x="885" y="2873500"/>
        <a:ext cx="882442" cy="831600"/>
      </dsp:txXfrm>
    </dsp:sp>
    <dsp:sp modelId="{F4CF45B1-921F-4818-94F0-3E4024E415F9}">
      <dsp:nvSpPr>
        <dsp:cNvPr id="0" name=""/>
        <dsp:cNvSpPr/>
      </dsp:nvSpPr>
      <dsp:spPr>
        <a:xfrm>
          <a:off x="883328" y="2535662"/>
          <a:ext cx="176488" cy="150727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F68949-F4FC-46A8-B81D-D0F82CA319FD}">
      <dsp:nvSpPr>
        <dsp:cNvPr id="0" name=""/>
        <dsp:cNvSpPr/>
      </dsp:nvSpPr>
      <dsp:spPr>
        <a:xfrm>
          <a:off x="1130412" y="2535662"/>
          <a:ext cx="5334686" cy="15072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285750" lvl="1" indent="-285750" algn="l" defTabSz="1866900">
            <a:lnSpc>
              <a:spcPct val="90000"/>
            </a:lnSpc>
            <a:spcBef>
              <a:spcPct val="0"/>
            </a:spcBef>
            <a:spcAft>
              <a:spcPct val="15000"/>
            </a:spcAft>
            <a:buChar char="•"/>
          </a:pPr>
          <a:r>
            <a:rPr lang="en-US" sz="4200" kern="1200" dirty="0"/>
            <a:t>Increasing When 200+ Frequency</a:t>
          </a:r>
          <a:endParaRPr lang="en-IN" sz="4200" kern="1200" dirty="0"/>
        </a:p>
      </dsp:txBody>
      <dsp:txXfrm>
        <a:off x="1130412" y="2535662"/>
        <a:ext cx="5334686" cy="15072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828C8C-49BC-4A52-AA40-6CF27B7079A0}">
      <dsp:nvSpPr>
        <dsp:cNvPr id="0" name=""/>
        <dsp:cNvSpPr/>
      </dsp:nvSpPr>
      <dsp:spPr>
        <a:xfrm>
          <a:off x="3911795" y="2354234"/>
          <a:ext cx="1955604" cy="4345851"/>
        </a:xfrm>
        <a:prstGeom prst="wedgeRectCallout">
          <a:avLst>
            <a:gd name="adj1" fmla="val 0"/>
            <a:gd name="adj2" fmla="val 0"/>
          </a:avLst>
        </a:prstGeom>
        <a:solidFill>
          <a:schemeClr val="accent3">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025" tIns="73025" rIns="73025" bIns="73025" numCol="1" spcCol="1270" anchor="t" anchorCtr="0">
          <a:noAutofit/>
        </a:bodyPr>
        <a:lstStyle/>
        <a:p>
          <a:pPr marL="0" lvl="0" indent="0" algn="r" defTabSz="1022350">
            <a:lnSpc>
              <a:spcPct val="90000"/>
            </a:lnSpc>
            <a:spcBef>
              <a:spcPct val="0"/>
            </a:spcBef>
            <a:spcAft>
              <a:spcPct val="35000"/>
            </a:spcAft>
            <a:buNone/>
          </a:pPr>
          <a:r>
            <a:rPr lang="en-US" sz="2300" kern="1200" dirty="0"/>
            <a:t>Data Coincides More</a:t>
          </a:r>
          <a:endParaRPr lang="en-IN" sz="2300" kern="1200" dirty="0"/>
        </a:p>
      </dsp:txBody>
      <dsp:txXfrm>
        <a:off x="4159986" y="2354234"/>
        <a:ext cx="1707413" cy="4345851"/>
      </dsp:txXfrm>
    </dsp:sp>
    <dsp:sp modelId="{93660896-A96F-4E17-B8EC-48861C87108A}">
      <dsp:nvSpPr>
        <dsp:cNvPr id="0" name=""/>
        <dsp:cNvSpPr/>
      </dsp:nvSpPr>
      <dsp:spPr>
        <a:xfrm>
          <a:off x="3911795" y="1427914"/>
          <a:ext cx="1955604" cy="9279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333500">
            <a:lnSpc>
              <a:spcPct val="90000"/>
            </a:lnSpc>
            <a:spcBef>
              <a:spcPct val="0"/>
            </a:spcBef>
            <a:spcAft>
              <a:spcPct val="35000"/>
            </a:spcAft>
            <a:buNone/>
          </a:pPr>
          <a:r>
            <a:rPr lang="en-US" sz="3000" kern="1200" dirty="0"/>
            <a:t>3</a:t>
          </a:r>
          <a:endParaRPr lang="en-IN" sz="3000" kern="1200" dirty="0"/>
        </a:p>
      </dsp:txBody>
      <dsp:txXfrm>
        <a:off x="3911795" y="1427914"/>
        <a:ext cx="1955604" cy="927902"/>
      </dsp:txXfrm>
    </dsp:sp>
    <dsp:sp modelId="{4A4F0B44-0CE0-4E79-AF8E-1BA82357CF9F}">
      <dsp:nvSpPr>
        <dsp:cNvPr id="0" name=""/>
        <dsp:cNvSpPr/>
      </dsp:nvSpPr>
      <dsp:spPr>
        <a:xfrm>
          <a:off x="1955604" y="2354234"/>
          <a:ext cx="1955604" cy="4035847"/>
        </a:xfrm>
        <a:prstGeom prst="wedgeRectCallout">
          <a:avLst>
            <a:gd name="adj1" fmla="val 62500"/>
            <a:gd name="adj2" fmla="val 20830"/>
          </a:avLst>
        </a:prstGeom>
        <a:solidFill>
          <a:schemeClr val="accent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025" tIns="73025" rIns="73025" bIns="73025" numCol="1" spcCol="1270" anchor="t" anchorCtr="0">
          <a:noAutofit/>
        </a:bodyPr>
        <a:lstStyle/>
        <a:p>
          <a:pPr marL="0" lvl="0" indent="0" algn="r" defTabSz="1022350">
            <a:lnSpc>
              <a:spcPct val="90000"/>
            </a:lnSpc>
            <a:spcBef>
              <a:spcPct val="0"/>
            </a:spcBef>
            <a:spcAft>
              <a:spcPct val="35000"/>
            </a:spcAft>
            <a:buNone/>
          </a:pPr>
          <a:r>
            <a:rPr lang="en-US" sz="2300" kern="1200" dirty="0"/>
            <a:t>Tends To Base Frequency</a:t>
          </a:r>
          <a:endParaRPr lang="en-IN" sz="2300" kern="1200" dirty="0"/>
        </a:p>
      </dsp:txBody>
      <dsp:txXfrm>
        <a:off x="2203795" y="2354234"/>
        <a:ext cx="1707413" cy="4035847"/>
      </dsp:txXfrm>
    </dsp:sp>
    <dsp:sp modelId="{684CFFDD-7298-4BDA-9E7A-C03CF8606C3B}">
      <dsp:nvSpPr>
        <dsp:cNvPr id="0" name=""/>
        <dsp:cNvSpPr/>
      </dsp:nvSpPr>
      <dsp:spPr>
        <a:xfrm>
          <a:off x="1955604" y="1578170"/>
          <a:ext cx="1955604" cy="7760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333500">
            <a:lnSpc>
              <a:spcPct val="90000"/>
            </a:lnSpc>
            <a:spcBef>
              <a:spcPct val="0"/>
            </a:spcBef>
            <a:spcAft>
              <a:spcPct val="35000"/>
            </a:spcAft>
            <a:buNone/>
          </a:pPr>
          <a:r>
            <a:rPr lang="en-US" sz="3000" kern="1200" dirty="0"/>
            <a:t>2</a:t>
          </a:r>
          <a:endParaRPr lang="en-IN" sz="3000" kern="1200" dirty="0"/>
        </a:p>
      </dsp:txBody>
      <dsp:txXfrm>
        <a:off x="1955604" y="1578170"/>
        <a:ext cx="1955604" cy="776063"/>
      </dsp:txXfrm>
    </dsp:sp>
    <dsp:sp modelId="{30100F59-6B3A-407A-9FAE-C21037A4CE0F}">
      <dsp:nvSpPr>
        <dsp:cNvPr id="0" name=""/>
        <dsp:cNvSpPr/>
      </dsp:nvSpPr>
      <dsp:spPr>
        <a:xfrm>
          <a:off x="0" y="2354234"/>
          <a:ext cx="1955604" cy="3725316"/>
        </a:xfrm>
        <a:prstGeom prst="wedgeRectCallout">
          <a:avLst>
            <a:gd name="adj1" fmla="val 62500"/>
            <a:gd name="adj2" fmla="val 20830"/>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3025" tIns="73025" rIns="73025" bIns="73025" numCol="1" spcCol="1270" anchor="t" anchorCtr="0">
          <a:noAutofit/>
        </a:bodyPr>
        <a:lstStyle/>
        <a:p>
          <a:pPr marL="0" lvl="0" indent="0" algn="r" defTabSz="1022350">
            <a:lnSpc>
              <a:spcPct val="90000"/>
            </a:lnSpc>
            <a:spcBef>
              <a:spcPct val="0"/>
            </a:spcBef>
            <a:spcAft>
              <a:spcPct val="35000"/>
            </a:spcAft>
            <a:buNone/>
          </a:pPr>
          <a:r>
            <a:rPr lang="en-US" sz="2300" kern="1200" dirty="0"/>
            <a:t>Proportional</a:t>
          </a:r>
          <a:endParaRPr lang="en-IN" sz="2300" kern="1200" dirty="0"/>
        </a:p>
      </dsp:txBody>
      <dsp:txXfrm>
        <a:off x="248191" y="2354234"/>
        <a:ext cx="1707413" cy="3725316"/>
      </dsp:txXfrm>
    </dsp:sp>
    <dsp:sp modelId="{8798AC5E-767D-4F5A-9897-4FB84EAF812F}">
      <dsp:nvSpPr>
        <dsp:cNvPr id="0" name=""/>
        <dsp:cNvSpPr/>
      </dsp:nvSpPr>
      <dsp:spPr>
        <a:xfrm>
          <a:off x="0" y="1733172"/>
          <a:ext cx="1955604" cy="6210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333500">
            <a:lnSpc>
              <a:spcPct val="90000"/>
            </a:lnSpc>
            <a:spcBef>
              <a:spcPct val="0"/>
            </a:spcBef>
            <a:spcAft>
              <a:spcPct val="35000"/>
            </a:spcAft>
            <a:buNone/>
          </a:pPr>
          <a:r>
            <a:rPr lang="en-US" sz="3000" kern="1200" dirty="0"/>
            <a:t>1</a:t>
          </a:r>
          <a:endParaRPr lang="en-IN" sz="3000" kern="1200" dirty="0"/>
        </a:p>
      </dsp:txBody>
      <dsp:txXfrm>
        <a:off x="0" y="1733172"/>
        <a:ext cx="1955604" cy="6210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D3601-4B50-4E6B-95DC-52AEDC3BC9FC}">
      <dsp:nvSpPr>
        <dsp:cNvPr id="0" name=""/>
        <dsp:cNvSpPr/>
      </dsp:nvSpPr>
      <dsp:spPr>
        <a:xfrm>
          <a:off x="6995605" y="2500503"/>
          <a:ext cx="165480" cy="3062686"/>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D4D7DA-15FC-40E3-847B-508E8FA703DC}">
      <dsp:nvSpPr>
        <dsp:cNvPr id="0" name=""/>
        <dsp:cNvSpPr/>
      </dsp:nvSpPr>
      <dsp:spPr>
        <a:xfrm>
          <a:off x="373615" y="2500503"/>
          <a:ext cx="4303876" cy="3062686"/>
        </a:xfrm>
        <a:prstGeom prst="frame">
          <a:avLst>
            <a:gd name="adj1" fmla="val 5450"/>
          </a:avLst>
        </a:prstGeom>
        <a:solidFill>
          <a:schemeClr val="accent1">
            <a:tint val="50000"/>
            <a:alpha val="40000"/>
            <a:hueOff val="0"/>
            <a:satOff val="0"/>
            <a:lumOff val="0"/>
            <a:alphaOff val="0"/>
          </a:schemeClr>
        </a:solidFill>
        <a:ln>
          <a:solidFill>
            <a:srgbClr val="002060"/>
          </a:solidFill>
        </a:ln>
        <a:effectLst/>
      </dsp:spPr>
      <dsp:style>
        <a:lnRef idx="0">
          <a:scrgbClr r="0" g="0" b="0"/>
        </a:lnRef>
        <a:fillRef idx="1">
          <a:scrgbClr r="0" g="0" b="0"/>
        </a:fillRef>
        <a:effectRef idx="0">
          <a:scrgbClr r="0" g="0" b="0"/>
        </a:effectRef>
        <a:fontRef idx="minor"/>
      </dsp:style>
    </dsp:sp>
    <dsp:sp modelId="{D32B595B-EDE3-4976-94B3-26C120087F29}">
      <dsp:nvSpPr>
        <dsp:cNvPr id="0" name=""/>
        <dsp:cNvSpPr/>
      </dsp:nvSpPr>
      <dsp:spPr>
        <a:xfrm>
          <a:off x="207266" y="2768603"/>
          <a:ext cx="4551242" cy="21656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21000" b="-21000"/>
          </a:stretch>
        </a:blipFill>
        <a:ln>
          <a:solidFill>
            <a:schemeClr val="bg2">
              <a:lumMod val="50000"/>
            </a:schemeClr>
          </a:solidFill>
        </a:ln>
        <a:effectLst/>
      </dsp:spPr>
      <dsp:style>
        <a:lnRef idx="0">
          <a:scrgbClr r="0" g="0" b="0"/>
        </a:lnRef>
        <a:fillRef idx="0">
          <a:scrgbClr r="0" g="0" b="0"/>
        </a:fillRef>
        <a:effectRef idx="0">
          <a:scrgbClr r="0" g="0" b="0"/>
        </a:effectRef>
        <a:fontRef idx="minor">
          <a:schemeClr val="accent3"/>
        </a:fontRef>
      </dsp:style>
    </dsp:sp>
    <dsp:sp modelId="{99308850-4831-4129-8EE1-9C3D91E247F7}">
      <dsp:nvSpPr>
        <dsp:cNvPr id="0" name=""/>
        <dsp:cNvSpPr/>
      </dsp:nvSpPr>
      <dsp:spPr>
        <a:xfrm>
          <a:off x="155364" y="4797966"/>
          <a:ext cx="4743159" cy="830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7040" tIns="167640" rIns="447040" bIns="167640" numCol="1" spcCol="1270" anchor="ctr" anchorCtr="0">
          <a:noAutofit/>
        </a:bodyPr>
        <a:lstStyle/>
        <a:p>
          <a:pPr marL="0" lvl="0" indent="0" algn="l" defTabSz="1955800">
            <a:lnSpc>
              <a:spcPct val="90000"/>
            </a:lnSpc>
            <a:spcBef>
              <a:spcPct val="0"/>
            </a:spcBef>
            <a:spcAft>
              <a:spcPct val="35000"/>
            </a:spcAft>
            <a:buNone/>
          </a:pPr>
          <a:r>
            <a:rPr lang="en-US" sz="4400" b="1" kern="1200" dirty="0">
              <a:latin typeface="Times New Roman" panose="02020603050405020304" pitchFamily="18" charset="0"/>
              <a:cs typeface="Times New Roman" panose="02020603050405020304" pitchFamily="18" charset="0"/>
            </a:rPr>
            <a:t>Proportional</a:t>
          </a:r>
          <a:endParaRPr lang="en-IN" sz="4400" b="1" kern="1200" dirty="0">
            <a:latin typeface="Times New Roman" panose="02020603050405020304" pitchFamily="18" charset="0"/>
            <a:cs typeface="Times New Roman" panose="02020603050405020304" pitchFamily="18" charset="0"/>
          </a:endParaRPr>
        </a:p>
      </dsp:txBody>
      <dsp:txXfrm>
        <a:off x="155364" y="4797966"/>
        <a:ext cx="4743159" cy="830796"/>
      </dsp:txXfrm>
    </dsp:sp>
    <dsp:sp modelId="{32C45C69-E67A-4F64-9102-72E5F87632C9}">
      <dsp:nvSpPr>
        <dsp:cNvPr id="0" name=""/>
        <dsp:cNvSpPr/>
      </dsp:nvSpPr>
      <dsp:spPr>
        <a:xfrm>
          <a:off x="4852706" y="2500503"/>
          <a:ext cx="1967684" cy="30626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Increasing</a:t>
          </a:r>
          <a:endParaRPr lang="en-IN" sz="3200" b="1" kern="1200" dirty="0">
            <a:latin typeface="Times New Roman" panose="02020603050405020304" pitchFamily="18" charset="0"/>
            <a:cs typeface="Times New Roman" panose="02020603050405020304" pitchFamily="18" charset="0"/>
          </a:endParaRPr>
        </a:p>
      </dsp:txBody>
      <dsp:txXfrm>
        <a:off x="4852706" y="2500503"/>
        <a:ext cx="1967684" cy="3062686"/>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cove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svg"/><Relationship Id="rId7" Type="http://schemas.openxmlformats.org/officeDocument/2006/relationships/diagramQuickStyle" Target="../diagrams/quickStyle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9.png"/><Relationship Id="rId9" Type="http://schemas.microsoft.com/office/2007/relationships/diagramDrawing" Target="../diagrams/drawing1.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svg"/><Relationship Id="rId7" Type="http://schemas.openxmlformats.org/officeDocument/2006/relationships/diagramQuickStyle" Target="../diagrams/quickStyle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9.png"/><Relationship Id="rId9" Type="http://schemas.microsoft.com/office/2007/relationships/diagramDrawing" Target="../diagrams/drawing2.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svg"/><Relationship Id="rId7" Type="http://schemas.openxmlformats.org/officeDocument/2006/relationships/diagramQuickStyle" Target="../diagrams/quickStyle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9.png"/><Relationship Id="rId9" Type="http://schemas.microsoft.com/office/2007/relationships/diagramDrawing" Target="../diagrams/drawing3.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https://youtube.com/playlist?list=PL3EaVPxK3BIcc06goMEuOAC87wx65Bq6l&amp;si=yNvdukcXBy2id3qe"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github.com/anirudha175/Pressure-Induced-Sasando-String-Vibration-via-Piezoelectric-Mapping"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hyperlink" Target="https://hyperphysics.phy-astr.gsu.edu/hbase/Waves/string.html" TargetMode="External"/><Relationship Id="rId3" Type="http://schemas.openxmlformats.org/officeDocument/2006/relationships/image" Target="../media/image2.svg"/><Relationship Id="rId7" Type="http://schemas.openxmlformats.org/officeDocument/2006/relationships/hyperlink" Target="https://mathworld.wolfram.com/WaveEquation.html" TargetMode="External"/><Relationship Id="rId12" Type="http://schemas.openxmlformats.org/officeDocument/2006/relationships/hyperlink" Target="https://newt.phys.unsw.edu.au/jw/music.html%20%5b"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ocw.mit.edu/courses/physics/8-03sc-physics-iii-vibrations-and-waves-fall%202016/" TargetMode="External"/><Relationship Id="rId11" Type="http://schemas.openxmlformats.org/officeDocument/2006/relationships/hyperlink" Target="https://www.mathworks.com/help/" TargetMode="External"/><Relationship Id="rId5" Type="http://schemas.openxmlformats.org/officeDocument/2006/relationships/image" Target="../media/image4.svg"/><Relationship Id="rId10" Type="http://schemas.openxmlformats.org/officeDocument/2006/relationships/hyperlink" Target="https://www.mathworks.com/help/matlab/ref/fft.html" TargetMode="External"/><Relationship Id="rId4" Type="http://schemas.openxmlformats.org/officeDocument/2006/relationships/image" Target="../media/image3.png"/><Relationship Id="rId9" Type="http://schemas.openxmlformats.org/officeDocument/2006/relationships/hyperlink" Target="https://betterexplained.com/articles/an-interactive-guide-to-the-fourier-transfor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3396" y="396562"/>
            <a:ext cx="2448404" cy="2613339"/>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133600" y="1127760"/>
            <a:ext cx="13753985" cy="2627194"/>
          </a:xfrm>
          <a:prstGeom prst="rect">
            <a:avLst/>
          </a:prstGeom>
        </p:spPr>
        <p:txBody>
          <a:bodyPr lIns="0" tIns="0" rIns="0" bIns="0" rtlCol="0" anchor="t">
            <a:spAutoFit/>
          </a:bodyPr>
          <a:lstStyle/>
          <a:p>
            <a:pPr lvl="0" algn="ctr">
              <a:lnSpc>
                <a:spcPts val="7023"/>
              </a:lnSpc>
            </a:pPr>
            <a:r>
              <a:rPr lang="en-US" sz="5400" b="1" dirty="0">
                <a:latin typeface="Times New Roman" panose="02020603050405020304" pitchFamily="18" charset="0"/>
                <a:cs typeface="Times New Roman" panose="02020603050405020304" pitchFamily="18" charset="0"/>
              </a:rPr>
              <a:t>Pressure-Induced </a:t>
            </a:r>
            <a:r>
              <a:rPr lang="en-US" sz="5400" b="1" dirty="0" err="1">
                <a:latin typeface="Times New Roman" panose="02020603050405020304" pitchFamily="18" charset="0"/>
                <a:cs typeface="Times New Roman" panose="02020603050405020304" pitchFamily="18" charset="0"/>
              </a:rPr>
              <a:t>Sasando</a:t>
            </a:r>
            <a:r>
              <a:rPr lang="en-US" sz="5400" b="1" dirty="0">
                <a:latin typeface="Times New Roman" panose="02020603050405020304" pitchFamily="18" charset="0"/>
                <a:cs typeface="Times New Roman" panose="02020603050405020304" pitchFamily="18" charset="0"/>
              </a:rPr>
              <a:t> String Vibration via Piezoelectric Mapping: Numerical Modeling and Fourier Analysis </a:t>
            </a:r>
            <a:endParaRPr lang="en-US" sz="4800" b="1" dirty="0">
              <a:solidFill>
                <a:srgbClr val="18899D"/>
              </a:solidFill>
              <a:latin typeface="Times New Roman" panose="02020603050405020304" pitchFamily="18" charset="0"/>
              <a:ea typeface="TS Qamus Bold"/>
              <a:cs typeface="Times New Roman" panose="02020603050405020304" pitchFamily="18" charset="0"/>
              <a:sym typeface="TS Qamus Bold"/>
            </a:endParaRPr>
          </a:p>
        </p:txBody>
      </p:sp>
      <p:sp>
        <p:nvSpPr>
          <p:cNvPr id="4" name="TextBox 4"/>
          <p:cNvSpPr txBox="1"/>
          <p:nvPr/>
        </p:nvSpPr>
        <p:spPr>
          <a:xfrm>
            <a:off x="2133600" y="4991100"/>
            <a:ext cx="12877800" cy="3711272"/>
          </a:xfrm>
          <a:prstGeom prst="rect">
            <a:avLst/>
          </a:prstGeom>
        </p:spPr>
        <p:txBody>
          <a:bodyPr wrap="square" lIns="0" tIns="0" rIns="0" bIns="0" rtlCol="0" anchor="t">
            <a:spAutoFit/>
          </a:bodyPr>
          <a:lstStyle/>
          <a:p>
            <a:pPr marL="0" lvl="0" indent="0" algn="l">
              <a:lnSpc>
                <a:spcPts val="3078"/>
              </a:lnSpc>
            </a:pPr>
            <a:endParaRPr lang="en-US" sz="4000" dirty="0">
              <a:solidFill>
                <a:srgbClr val="18899D"/>
              </a:solidFill>
              <a:latin typeface="Times New Roman" panose="02020603050405020304" pitchFamily="18" charset="0"/>
              <a:ea typeface="TS Qamus"/>
              <a:cs typeface="Times New Roman" panose="02020603050405020304" pitchFamily="18" charset="0"/>
              <a:sym typeface="TS Qamus"/>
            </a:endParaRPr>
          </a:p>
          <a:p>
            <a:pPr marL="0" lvl="0" indent="0" algn="l">
              <a:lnSpc>
                <a:spcPts val="3078"/>
              </a:lnSpc>
            </a:pPr>
            <a:r>
              <a:rPr lang="en-US" sz="3600" dirty="0">
                <a:solidFill>
                  <a:srgbClr val="18899D"/>
                </a:solidFill>
                <a:latin typeface="Times New Roman" panose="02020603050405020304" pitchFamily="18" charset="0"/>
                <a:ea typeface="TS Qamus"/>
                <a:cs typeface="Times New Roman" panose="02020603050405020304" pitchFamily="18" charset="0"/>
                <a:sym typeface="TS Qamus"/>
              </a:rPr>
              <a:t>EEE 212 – Numerical Technique Laboratory</a:t>
            </a:r>
          </a:p>
          <a:p>
            <a:pPr marL="0" lvl="0" indent="0" algn="l">
              <a:lnSpc>
                <a:spcPts val="3078"/>
              </a:lnSpc>
            </a:pPr>
            <a:endParaRPr lang="en-US" sz="4000" dirty="0">
              <a:solidFill>
                <a:srgbClr val="18899D"/>
              </a:solidFill>
              <a:latin typeface="Times New Roman" panose="02020603050405020304" pitchFamily="18" charset="0"/>
              <a:ea typeface="TS Qamus"/>
              <a:cs typeface="Times New Roman" panose="02020603050405020304" pitchFamily="18" charset="0"/>
              <a:sym typeface="TS Qamus"/>
            </a:endParaRPr>
          </a:p>
          <a:p>
            <a:pPr marL="0" lvl="0" indent="0" algn="l">
              <a:lnSpc>
                <a:spcPts val="3078"/>
              </a:lnSpc>
            </a:pPr>
            <a:r>
              <a:rPr lang="en-US" sz="3200" u="sng" dirty="0">
                <a:solidFill>
                  <a:srgbClr val="18899D"/>
                </a:solidFill>
                <a:latin typeface="Times New Roman" panose="02020603050405020304" pitchFamily="18" charset="0"/>
                <a:ea typeface="TS Qamus"/>
                <a:cs typeface="Times New Roman" panose="02020603050405020304" pitchFamily="18" charset="0"/>
                <a:sym typeface="TS Qamus"/>
              </a:rPr>
              <a:t>Submitted By:</a:t>
            </a:r>
          </a:p>
          <a:p>
            <a:pPr marL="0" lvl="0" indent="0" algn="l"/>
            <a:r>
              <a:rPr lang="en-US" sz="2800" dirty="0">
                <a:solidFill>
                  <a:srgbClr val="18899D"/>
                </a:solidFill>
                <a:latin typeface="Times New Roman" panose="02020603050405020304" pitchFamily="18" charset="0"/>
                <a:ea typeface="TS Qamus"/>
                <a:cs typeface="Times New Roman" panose="02020603050405020304" pitchFamily="18" charset="0"/>
                <a:sym typeface="TS Qamus"/>
              </a:rPr>
              <a:t>Anirudha Roy Archo-2306175</a:t>
            </a:r>
          </a:p>
          <a:p>
            <a:pPr marL="0" lvl="0" indent="0" algn="l"/>
            <a:r>
              <a:rPr lang="en-US" sz="2800" dirty="0">
                <a:solidFill>
                  <a:srgbClr val="18899D"/>
                </a:solidFill>
                <a:latin typeface="Times New Roman" panose="02020603050405020304" pitchFamily="18" charset="0"/>
                <a:ea typeface="TS Qamus"/>
                <a:cs typeface="Times New Roman" panose="02020603050405020304" pitchFamily="18" charset="0"/>
                <a:sym typeface="TS Qamus"/>
              </a:rPr>
              <a:t>Monem </a:t>
            </a:r>
            <a:r>
              <a:rPr lang="en-US" sz="2800" dirty="0" err="1">
                <a:solidFill>
                  <a:srgbClr val="18899D"/>
                </a:solidFill>
                <a:latin typeface="Times New Roman" panose="02020603050405020304" pitchFamily="18" charset="0"/>
                <a:ea typeface="TS Qamus"/>
                <a:cs typeface="Times New Roman" panose="02020603050405020304" pitchFamily="18" charset="0"/>
                <a:sym typeface="TS Qamus"/>
              </a:rPr>
              <a:t>Tazuar</a:t>
            </a:r>
            <a:r>
              <a:rPr lang="en-US" sz="2800" dirty="0">
                <a:solidFill>
                  <a:srgbClr val="18899D"/>
                </a:solidFill>
                <a:latin typeface="Times New Roman" panose="02020603050405020304" pitchFamily="18" charset="0"/>
                <a:ea typeface="TS Qamus"/>
                <a:cs typeface="Times New Roman" panose="02020603050405020304" pitchFamily="18" charset="0"/>
                <a:sym typeface="TS Qamus"/>
              </a:rPr>
              <a:t> Alve-2306176</a:t>
            </a:r>
          </a:p>
          <a:p>
            <a:pPr marL="0" lvl="0" indent="0" algn="l"/>
            <a:r>
              <a:rPr lang="en-US" sz="2800" dirty="0">
                <a:solidFill>
                  <a:srgbClr val="18899D"/>
                </a:solidFill>
                <a:latin typeface="Times New Roman" panose="02020603050405020304" pitchFamily="18" charset="0"/>
                <a:ea typeface="TS Qamus"/>
                <a:cs typeface="Times New Roman" panose="02020603050405020304" pitchFamily="18" charset="0"/>
                <a:sym typeface="TS Qamus"/>
              </a:rPr>
              <a:t>Kushal Roy Sondo-2306177</a:t>
            </a:r>
          </a:p>
          <a:p>
            <a:pPr marL="0" lvl="0" indent="0" algn="l"/>
            <a:r>
              <a:rPr lang="en-US" sz="2800" dirty="0">
                <a:solidFill>
                  <a:srgbClr val="18899D"/>
                </a:solidFill>
                <a:latin typeface="Times New Roman" panose="02020603050405020304" pitchFamily="18" charset="0"/>
                <a:ea typeface="TS Qamus"/>
                <a:cs typeface="Times New Roman" panose="02020603050405020304" pitchFamily="18" charset="0"/>
                <a:sym typeface="TS Qamus"/>
              </a:rPr>
              <a:t>Swapneel Paul-2306180</a:t>
            </a:r>
          </a:p>
          <a:p>
            <a:pPr marL="0" lvl="0" indent="0" algn="l">
              <a:lnSpc>
                <a:spcPts val="3078"/>
              </a:lnSpc>
            </a:pPr>
            <a:endParaRPr lang="en-US" sz="2824" dirty="0">
              <a:solidFill>
                <a:srgbClr val="18899D"/>
              </a:solidFill>
              <a:latin typeface="TS Qamus"/>
              <a:ea typeface="TS Qamus"/>
              <a:cs typeface="TS Qamus"/>
              <a:sym typeface="TS Qamus"/>
            </a:endParaRPr>
          </a:p>
        </p:txBody>
      </p:sp>
      <p:sp>
        <p:nvSpPr>
          <p:cNvPr id="5" name="Freeform 5"/>
          <p:cNvSpPr/>
          <p:nvPr/>
        </p:nvSpPr>
        <p:spPr>
          <a:xfrm flipH="1" flipV="1">
            <a:off x="15316200" y="7505699"/>
            <a:ext cx="2514600" cy="2384738"/>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523396" y="9258300"/>
            <a:ext cx="1610204" cy="63213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flipH="1">
            <a:off x="16020992" y="396562"/>
            <a:ext cx="1743610" cy="708338"/>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0344" y="265408"/>
            <a:ext cx="2516101" cy="2516101"/>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3955689" y="1085850"/>
            <a:ext cx="10293711" cy="1049066"/>
          </a:xfrm>
          <a:prstGeom prst="rect">
            <a:avLst/>
          </a:prstGeom>
        </p:spPr>
        <p:txBody>
          <a:bodyPr wrap="square" lIns="0" tIns="0" rIns="0" bIns="0" rtlCol="0" anchor="t">
            <a:spAutoFit/>
          </a:bodyPr>
          <a:lstStyle/>
          <a:p>
            <a:pPr marL="0" lvl="0" indent="0" algn="ctr">
              <a:lnSpc>
                <a:spcPts val="7914"/>
              </a:lnSpc>
            </a:pPr>
            <a:r>
              <a:rPr lang="en-US" sz="7261" b="1" dirty="0">
                <a:solidFill>
                  <a:srgbClr val="18899D"/>
                </a:solidFill>
                <a:latin typeface="TS Qamus Bold"/>
                <a:ea typeface="TS Qamus Bold"/>
                <a:cs typeface="TS Qamus Bold"/>
                <a:sym typeface="TS Qamus Bold"/>
              </a:rPr>
              <a:t>ABSTRACT</a:t>
            </a:r>
          </a:p>
        </p:txBody>
      </p:sp>
      <p:sp>
        <p:nvSpPr>
          <p:cNvPr id="5" name="Freeform 5"/>
          <p:cNvSpPr/>
          <p:nvPr/>
        </p:nvSpPr>
        <p:spPr>
          <a:xfrm flipH="1" flipV="1">
            <a:off x="15491555" y="7446728"/>
            <a:ext cx="2516101" cy="2516101"/>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15491555" y="265408"/>
            <a:ext cx="2516101" cy="2516101"/>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flipV="1">
            <a:off x="426179" y="7393341"/>
            <a:ext cx="2516101" cy="2516101"/>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Rectangle 2">
            <a:extLst>
              <a:ext uri="{FF2B5EF4-FFF2-40B4-BE49-F238E27FC236}">
                <a16:creationId xmlns:a16="http://schemas.microsoft.com/office/drawing/2014/main" id="{E6DC50FC-66CC-DFC1-DA5B-572D3B081614}"/>
              </a:ext>
            </a:extLst>
          </p:cNvPr>
          <p:cNvSpPr>
            <a:spLocks noChangeArrowheads="1"/>
          </p:cNvSpPr>
          <p:nvPr/>
        </p:nvSpPr>
        <p:spPr bwMode="auto">
          <a:xfrm>
            <a:off x="914400" y="3069064"/>
            <a:ext cx="1709325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5" eaLnBrk="0" fontAlgn="base" hangingPunct="0">
              <a:spcAft>
                <a:spcPct val="0"/>
              </a:spcAft>
            </a:pPr>
            <a:r>
              <a:rPr kumimoji="0" lang="en-US" altLang="en-US" sz="3600" b="1" i="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lnSpc>
                <a:spcPct val="100000"/>
              </a:lnSpc>
              <a:spcAft>
                <a:spcPct val="0"/>
              </a:spcAft>
              <a:buClrTx/>
              <a:buSzTx/>
              <a:buFontTx/>
              <a:buChar char="•"/>
              <a:tabLst/>
            </a:pPr>
            <a:r>
              <a:rPr lang="en-US" altLang="en-US" sz="3600" b="1" dirty="0">
                <a:solidFill>
                  <a:schemeClr val="tx2">
                    <a:lumMod val="50000"/>
                  </a:schemeClr>
                </a:solidFill>
                <a:latin typeface="Times New Roman" panose="02020603050405020304" pitchFamily="18" charset="0"/>
                <a:cs typeface="Times New Roman" panose="02020603050405020304" pitchFamily="18" charset="0"/>
              </a:rPr>
              <a:t>Applies </a:t>
            </a:r>
            <a:r>
              <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Fourier Synthesis &amp; Audio Visualization</a:t>
            </a:r>
          </a:p>
          <a:p>
            <a:pPr marL="0" marR="0" lvl="0" indent="0" defTabSz="914400" rtl="0" eaLnBrk="0" fontAlgn="base" latinLnBrk="0" hangingPunct="0">
              <a:lnSpc>
                <a:spcPct val="100000"/>
              </a:lnSpc>
              <a:spcAft>
                <a:spcPct val="0"/>
              </a:spcAft>
              <a:buClrTx/>
              <a:buSzTx/>
              <a:buFontTx/>
              <a:buChar char="•"/>
              <a:tabLst/>
            </a:pPr>
            <a:r>
              <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Drives From Piezo-Electric</a:t>
            </a:r>
          </a:p>
          <a:p>
            <a:pPr marL="0" marR="0" lvl="0" indent="0" defTabSz="914400" rtl="0" eaLnBrk="0" fontAlgn="base" latinLnBrk="0" hangingPunct="0">
              <a:lnSpc>
                <a:spcPct val="100000"/>
              </a:lnSpc>
              <a:spcAft>
                <a:spcPct val="0"/>
              </a:spcAft>
              <a:buClrTx/>
              <a:buSzTx/>
              <a:buFontTx/>
              <a:buChar char="•"/>
              <a:tabLst/>
            </a:pPr>
            <a:r>
              <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An Interactive MATLAB GUI</a:t>
            </a:r>
          </a:p>
          <a:p>
            <a:pPr marL="0" marR="0" lvl="0" indent="0" defTabSz="914400" rtl="0" eaLnBrk="0" fontAlgn="base" latinLnBrk="0" hangingPunct="0">
              <a:lnSpc>
                <a:spcPct val="100000"/>
              </a:lnSpc>
              <a:spcAft>
                <a:spcPct val="0"/>
              </a:spcAft>
              <a:buClrTx/>
              <a:buSzTx/>
              <a:buFontTx/>
              <a:buChar char="•"/>
              <a:tabLst/>
            </a:pPr>
            <a:r>
              <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RC Filtering </a:t>
            </a:r>
            <a:r>
              <a:rPr lang="en-US" altLang="en-US" sz="3600" b="1" dirty="0">
                <a:solidFill>
                  <a:schemeClr val="tx2">
                    <a:lumMod val="50000"/>
                  </a:schemeClr>
                </a:solidFill>
                <a:latin typeface="Times New Roman" panose="02020603050405020304" pitchFamily="18" charset="0"/>
                <a:cs typeface="Times New Roman" panose="02020603050405020304" pitchFamily="18" charset="0"/>
              </a:rPr>
              <a:t>I</a:t>
            </a:r>
            <a:r>
              <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ncorporated </a:t>
            </a:r>
          </a:p>
          <a:p>
            <a:pPr marL="0" marR="0" lvl="0" indent="0" defTabSz="914400" rtl="0" eaLnBrk="0" fontAlgn="base" latinLnBrk="0" hangingPunct="0">
              <a:lnSpc>
                <a:spcPct val="100000"/>
              </a:lnSpc>
              <a:spcAft>
                <a:spcPct val="0"/>
              </a:spcAft>
              <a:buClrTx/>
              <a:buSzTx/>
              <a:buFontTx/>
              <a:buChar char="•"/>
              <a:tabLst/>
            </a:pPr>
            <a:r>
              <a:rPr lang="en-US" altLang="en-US" sz="3600" b="1" dirty="0">
                <a:solidFill>
                  <a:schemeClr val="tx2">
                    <a:lumMod val="50000"/>
                  </a:schemeClr>
                </a:solidFill>
                <a:latin typeface="Times New Roman" panose="02020603050405020304" pitchFamily="18" charset="0"/>
                <a:cs typeface="Times New Roman" panose="02020603050405020304" pitchFamily="18" charset="0"/>
              </a:rPr>
              <a:t>Develops A Music System</a:t>
            </a:r>
            <a:endPar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Aft>
                <a:spcPct val="0"/>
              </a:spcAft>
              <a:buClrTx/>
              <a:buSzTx/>
              <a:buFontTx/>
              <a:buChar char="•"/>
              <a:tabLst/>
            </a:pPr>
            <a:r>
              <a:rPr lang="en-US" altLang="en-US" sz="3600" b="1" dirty="0">
                <a:solidFill>
                  <a:schemeClr val="tx2">
                    <a:lumMod val="50000"/>
                  </a:schemeClr>
                </a:solidFill>
                <a:latin typeface="Times New Roman" panose="02020603050405020304" pitchFamily="18" charset="0"/>
                <a:cs typeface="Times New Roman" panose="02020603050405020304" pitchFamily="18" charset="0"/>
              </a:rPr>
              <a:t>B</a:t>
            </a:r>
            <a:r>
              <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ridges  </a:t>
            </a:r>
            <a:r>
              <a:rPr lang="en-US" altLang="en-US" sz="3600" b="1" dirty="0">
                <a:solidFill>
                  <a:schemeClr val="tx2">
                    <a:lumMod val="50000"/>
                  </a:schemeClr>
                </a:solidFill>
                <a:latin typeface="Times New Roman" panose="02020603050405020304" pitchFamily="18" charset="0"/>
                <a:cs typeface="Times New Roman" panose="02020603050405020304" pitchFamily="18" charset="0"/>
              </a:rPr>
              <a:t>M</a:t>
            </a:r>
            <a:r>
              <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odern </a:t>
            </a:r>
            <a:r>
              <a:rPr lang="en-US" altLang="en-US" sz="3600" b="1" dirty="0">
                <a:solidFill>
                  <a:schemeClr val="tx2">
                    <a:lumMod val="50000"/>
                  </a:schemeClr>
                </a:solidFill>
                <a:latin typeface="Times New Roman" panose="02020603050405020304" pitchFamily="18" charset="0"/>
                <a:cs typeface="Times New Roman" panose="02020603050405020304" pitchFamily="18" charset="0"/>
              </a:rPr>
              <a:t>N</a:t>
            </a:r>
            <a:r>
              <a:rPr kumimoji="0" lang="en-US" altLang="en-US" sz="3600" b="1"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umerical Techniques</a:t>
            </a:r>
            <a:endParaRPr kumimoji="0" lang="en-US" altLang="en-US" sz="3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Aft>
                <a:spcPct val="0"/>
              </a:spcAft>
              <a:buClrTx/>
              <a:buSzTx/>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0088" y="352332"/>
            <a:ext cx="2516101" cy="2516101"/>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5107919" y="6994057"/>
            <a:ext cx="2516101" cy="2516101"/>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Freeform 4"/>
          <p:cNvSpPr/>
          <p:nvPr/>
        </p:nvSpPr>
        <p:spPr>
          <a:xfrm>
            <a:off x="663980" y="6747169"/>
            <a:ext cx="729439" cy="2731515"/>
          </a:xfrm>
          <a:custGeom>
            <a:avLst/>
            <a:gdLst/>
            <a:ahLst/>
            <a:cxnLst/>
            <a:rect l="l" t="t" r="r" b="b"/>
            <a:pathLst>
              <a:path w="729439" h="2731515">
                <a:moveTo>
                  <a:pt x="0" y="0"/>
                </a:moveTo>
                <a:lnTo>
                  <a:pt x="729439" y="0"/>
                </a:lnTo>
                <a:lnTo>
                  <a:pt x="729439" y="2731515"/>
                </a:lnTo>
                <a:lnTo>
                  <a:pt x="0" y="27315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V="1">
            <a:off x="16764000" y="360615"/>
            <a:ext cx="729439" cy="2731515"/>
          </a:xfrm>
          <a:custGeom>
            <a:avLst/>
            <a:gdLst/>
            <a:ahLst/>
            <a:cxnLst/>
            <a:rect l="l" t="t" r="r" b="b"/>
            <a:pathLst>
              <a:path w="729439" h="2731515">
                <a:moveTo>
                  <a:pt x="0" y="2731515"/>
                </a:moveTo>
                <a:lnTo>
                  <a:pt x="729439" y="2731515"/>
                </a:lnTo>
                <a:lnTo>
                  <a:pt x="729439" y="0"/>
                </a:lnTo>
                <a:lnTo>
                  <a:pt x="0" y="0"/>
                </a:lnTo>
                <a:lnTo>
                  <a:pt x="0" y="273151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2133600" y="3314700"/>
            <a:ext cx="9601200" cy="4093428"/>
          </a:xfrm>
          <a:prstGeom prst="rect">
            <a:avLst/>
          </a:prstGeom>
        </p:spPr>
        <p:txBody>
          <a:bodyPr wrap="square" lIns="0" tIns="0" rIns="0" bIns="0" rtlCol="0" anchor="t">
            <a:spAutoFit/>
          </a:bodyPr>
          <a:lstStyle/>
          <a:p>
            <a:pPr marL="0" lvl="0" indent="0" algn="just"/>
            <a:r>
              <a:rPr lang="en-US" sz="3800" dirty="0">
                <a:latin typeface="Times New Roman" panose="02020603050405020304" pitchFamily="18" charset="0"/>
                <a:ea typeface="TS Qamus"/>
                <a:cs typeface="Times New Roman" panose="02020603050405020304" pitchFamily="18" charset="0"/>
                <a:sym typeface="TS Qamus"/>
              </a:rPr>
              <a:t>The </a:t>
            </a:r>
            <a:r>
              <a:rPr lang="en-US" sz="3800" dirty="0" err="1">
                <a:latin typeface="Times New Roman" panose="02020603050405020304" pitchFamily="18" charset="0"/>
                <a:ea typeface="TS Qamus"/>
                <a:cs typeface="Times New Roman" panose="02020603050405020304" pitchFamily="18" charset="0"/>
                <a:sym typeface="TS Qamus"/>
              </a:rPr>
              <a:t>Sasando</a:t>
            </a:r>
            <a:r>
              <a:rPr lang="en-US" sz="3800" dirty="0">
                <a:latin typeface="Times New Roman" panose="02020603050405020304" pitchFamily="18" charset="0"/>
                <a:ea typeface="TS Qamus"/>
                <a:cs typeface="Times New Roman" panose="02020603050405020304" pitchFamily="18" charset="0"/>
                <a:sym typeface="TS Qamus"/>
              </a:rPr>
              <a:t> is a traditional Indonesian string instrument from Rote Island, known for its unique palm leaf resonator and distinctive ethereal sound. Modeling its vibration behavior presents significant challenges due to the complex wave mechanics and damping characteristics inherent in stringed instruments</a:t>
            </a:r>
            <a:r>
              <a:rPr lang="en-US" sz="3800" dirty="0">
                <a:solidFill>
                  <a:srgbClr val="18899D"/>
                </a:solidFill>
                <a:latin typeface="TS Qamus"/>
                <a:ea typeface="TS Qamus"/>
                <a:cs typeface="TS Qamus"/>
                <a:sym typeface="TS Qamus"/>
              </a:rPr>
              <a:t>.</a:t>
            </a:r>
          </a:p>
        </p:txBody>
      </p:sp>
      <p:sp>
        <p:nvSpPr>
          <p:cNvPr id="11" name="TextBox 11"/>
          <p:cNvSpPr txBox="1"/>
          <p:nvPr/>
        </p:nvSpPr>
        <p:spPr>
          <a:xfrm>
            <a:off x="3955689" y="1085850"/>
            <a:ext cx="10376622" cy="1049066"/>
          </a:xfrm>
          <a:prstGeom prst="rect">
            <a:avLst/>
          </a:prstGeom>
        </p:spPr>
        <p:txBody>
          <a:bodyPr lIns="0" tIns="0" rIns="0" bIns="0" rtlCol="0" anchor="t">
            <a:spAutoFit/>
          </a:bodyPr>
          <a:lstStyle/>
          <a:p>
            <a:pPr marL="0" lvl="0" indent="0" algn="ctr">
              <a:lnSpc>
                <a:spcPts val="7914"/>
              </a:lnSpc>
            </a:pPr>
            <a:r>
              <a:rPr lang="en-US" sz="7261" b="1">
                <a:solidFill>
                  <a:srgbClr val="18899D"/>
                </a:solidFill>
                <a:latin typeface="TS Qamus Bold"/>
                <a:ea typeface="TS Qamus Bold"/>
                <a:cs typeface="TS Qamus Bold"/>
                <a:sym typeface="TS Qamus Bold"/>
              </a:rPr>
              <a:t>INTRODUCTION</a:t>
            </a:r>
          </a:p>
        </p:txBody>
      </p:sp>
      <p:pic>
        <p:nvPicPr>
          <p:cNvPr id="14" name="Picture 13">
            <a:extLst>
              <a:ext uri="{FF2B5EF4-FFF2-40B4-BE49-F238E27FC236}">
                <a16:creationId xmlns:a16="http://schemas.microsoft.com/office/drawing/2014/main" id="{37D80A21-9051-0119-4540-7B4A038E8F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39600" y="5067300"/>
            <a:ext cx="5917353" cy="3588869"/>
          </a:xfrm>
          <a:prstGeom prst="rect">
            <a:avLst/>
          </a:prstGeom>
        </p:spPr>
      </p:pic>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73765" y="284922"/>
            <a:ext cx="25908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flipV="1">
            <a:off x="15163798" y="7658100"/>
            <a:ext cx="2650436" cy="22860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609600" y="9410700"/>
            <a:ext cx="1752600" cy="59137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flipH="1">
            <a:off x="16056633" y="342900"/>
            <a:ext cx="1757602" cy="605058"/>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Rectangle: Diagonal Corners Rounded 10">
            <a:extLst>
              <a:ext uri="{FF2B5EF4-FFF2-40B4-BE49-F238E27FC236}">
                <a16:creationId xmlns:a16="http://schemas.microsoft.com/office/drawing/2014/main" id="{D7B17CE3-1631-32D6-D3F4-AFCB3ECB8A7B}"/>
              </a:ext>
            </a:extLst>
          </p:cNvPr>
          <p:cNvSpPr/>
          <p:nvPr/>
        </p:nvSpPr>
        <p:spPr>
          <a:xfrm>
            <a:off x="473765" y="3238500"/>
            <a:ext cx="3336235" cy="1981200"/>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Input: Pressure(P),Resistance(R), Capacitance(c), Base Frequency</a:t>
            </a:r>
          </a:p>
        </p:txBody>
      </p:sp>
      <p:sp>
        <p:nvSpPr>
          <p:cNvPr id="12" name="Rectangle: Diagonal Corners Rounded 11">
            <a:extLst>
              <a:ext uri="{FF2B5EF4-FFF2-40B4-BE49-F238E27FC236}">
                <a16:creationId xmlns:a16="http://schemas.microsoft.com/office/drawing/2014/main" id="{E30DD4CF-722E-9ACC-B969-6C32555D3CBA}"/>
              </a:ext>
            </a:extLst>
          </p:cNvPr>
          <p:cNvSpPr/>
          <p:nvPr/>
        </p:nvSpPr>
        <p:spPr>
          <a:xfrm>
            <a:off x="4191000" y="3238500"/>
            <a:ext cx="2667000" cy="1905000"/>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Electrical Mapping</a:t>
            </a:r>
          </a:p>
        </p:txBody>
      </p:sp>
      <p:sp>
        <p:nvSpPr>
          <p:cNvPr id="13" name="Rectangle: Diagonal Corners Rounded 12">
            <a:extLst>
              <a:ext uri="{FF2B5EF4-FFF2-40B4-BE49-F238E27FC236}">
                <a16:creationId xmlns:a16="http://schemas.microsoft.com/office/drawing/2014/main" id="{163DEDE3-6897-C5E7-2E22-1F52C876EC3A}"/>
              </a:ext>
            </a:extLst>
          </p:cNvPr>
          <p:cNvSpPr/>
          <p:nvPr/>
        </p:nvSpPr>
        <p:spPr>
          <a:xfrm>
            <a:off x="7848600" y="3238500"/>
            <a:ext cx="2514600" cy="1893404"/>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dirty="0">
                <a:latin typeface="Times New Roman" panose="02020603050405020304" pitchFamily="18" charset="0"/>
                <a:cs typeface="Times New Roman" panose="02020603050405020304" pitchFamily="18" charset="0"/>
              </a:rPr>
              <a:t>Mechanical mapping</a:t>
            </a:r>
          </a:p>
        </p:txBody>
      </p:sp>
      <p:sp>
        <p:nvSpPr>
          <p:cNvPr id="14" name="Rectangle: Diagonal Corners Rounded 13">
            <a:extLst>
              <a:ext uri="{FF2B5EF4-FFF2-40B4-BE49-F238E27FC236}">
                <a16:creationId xmlns:a16="http://schemas.microsoft.com/office/drawing/2014/main" id="{A38E5DB2-58B4-2C19-7C3E-936BF0BB86FF}"/>
              </a:ext>
            </a:extLst>
          </p:cNvPr>
          <p:cNvSpPr/>
          <p:nvPr/>
        </p:nvSpPr>
        <p:spPr>
          <a:xfrm>
            <a:off x="11125200" y="3250096"/>
            <a:ext cx="2743200" cy="1881808"/>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err="1">
                <a:latin typeface="Times New Roman" panose="02020603050405020304" pitchFamily="18" charset="0"/>
                <a:cs typeface="Times New Roman" panose="02020603050405020304" pitchFamily="18" charset="0"/>
              </a:rPr>
              <a:t>Fequency</a:t>
            </a:r>
            <a:endParaRPr lang="en-US" sz="28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Generation</a:t>
            </a:r>
          </a:p>
        </p:txBody>
      </p:sp>
      <p:sp>
        <p:nvSpPr>
          <p:cNvPr id="15" name="Rectangle: Diagonal Corners Rounded 14">
            <a:extLst>
              <a:ext uri="{FF2B5EF4-FFF2-40B4-BE49-F238E27FC236}">
                <a16:creationId xmlns:a16="http://schemas.microsoft.com/office/drawing/2014/main" id="{8698C0C9-7A5E-F936-9ACD-A6A5CCAE13F0}"/>
              </a:ext>
            </a:extLst>
          </p:cNvPr>
          <p:cNvSpPr/>
          <p:nvPr/>
        </p:nvSpPr>
        <p:spPr>
          <a:xfrm>
            <a:off x="14859000" y="3238500"/>
            <a:ext cx="2514600" cy="1881808"/>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Filtering</a:t>
            </a:r>
          </a:p>
        </p:txBody>
      </p:sp>
      <p:sp>
        <p:nvSpPr>
          <p:cNvPr id="16" name="Rectangle: Diagonal Corners Rounded 15">
            <a:extLst>
              <a:ext uri="{FF2B5EF4-FFF2-40B4-BE49-F238E27FC236}">
                <a16:creationId xmlns:a16="http://schemas.microsoft.com/office/drawing/2014/main" id="{3E2D9D79-3A0D-1711-C2AF-88A4D0B1C771}"/>
              </a:ext>
            </a:extLst>
          </p:cNvPr>
          <p:cNvSpPr/>
          <p:nvPr/>
        </p:nvSpPr>
        <p:spPr>
          <a:xfrm>
            <a:off x="14935200" y="6591300"/>
            <a:ext cx="2438400" cy="1371600"/>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Fourier Synthesis</a:t>
            </a:r>
          </a:p>
        </p:txBody>
      </p:sp>
      <p:sp>
        <p:nvSpPr>
          <p:cNvPr id="17" name="Rectangle: Diagonal Corners Rounded 16">
            <a:extLst>
              <a:ext uri="{FF2B5EF4-FFF2-40B4-BE49-F238E27FC236}">
                <a16:creationId xmlns:a16="http://schemas.microsoft.com/office/drawing/2014/main" id="{F32B251C-23C2-4218-8E01-00E138BB1D85}"/>
              </a:ext>
            </a:extLst>
          </p:cNvPr>
          <p:cNvSpPr/>
          <p:nvPr/>
        </p:nvSpPr>
        <p:spPr>
          <a:xfrm>
            <a:off x="11125200" y="6591300"/>
            <a:ext cx="2743200" cy="1485900"/>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err="1">
                <a:latin typeface="Times New Roman" panose="02020603050405020304" pitchFamily="18" charset="0"/>
                <a:cs typeface="Times New Roman" panose="02020603050405020304" pitchFamily="18" charset="0"/>
              </a:rPr>
              <a:t>Visualisation</a:t>
            </a:r>
            <a:r>
              <a:rPr lang="en-US" sz="2800" dirty="0">
                <a:latin typeface="Times New Roman" panose="02020603050405020304" pitchFamily="18" charset="0"/>
                <a:cs typeface="Times New Roman" panose="02020603050405020304" pitchFamily="18" charset="0"/>
              </a:rPr>
              <a:t> &amp;</a:t>
            </a:r>
          </a:p>
          <a:p>
            <a:pPr algn="ctr"/>
            <a:r>
              <a:rPr lang="en-US" sz="2800" dirty="0">
                <a:latin typeface="Times New Roman" panose="02020603050405020304" pitchFamily="18" charset="0"/>
                <a:cs typeface="Times New Roman" panose="02020603050405020304" pitchFamily="18" charset="0"/>
              </a:rPr>
              <a:t>Audio Output</a:t>
            </a:r>
          </a:p>
        </p:txBody>
      </p:sp>
      <p:sp>
        <p:nvSpPr>
          <p:cNvPr id="18" name="Arrow: Right 17">
            <a:extLst>
              <a:ext uri="{FF2B5EF4-FFF2-40B4-BE49-F238E27FC236}">
                <a16:creationId xmlns:a16="http://schemas.microsoft.com/office/drawing/2014/main" id="{BF7B42B5-4431-86B3-B276-FF525706FF5B}"/>
              </a:ext>
            </a:extLst>
          </p:cNvPr>
          <p:cNvSpPr/>
          <p:nvPr/>
        </p:nvSpPr>
        <p:spPr>
          <a:xfrm>
            <a:off x="3429000" y="4076700"/>
            <a:ext cx="685800" cy="4572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9" name="Arrow: Right 18">
            <a:extLst>
              <a:ext uri="{FF2B5EF4-FFF2-40B4-BE49-F238E27FC236}">
                <a16:creationId xmlns:a16="http://schemas.microsoft.com/office/drawing/2014/main" id="{5B484929-7813-9E01-16C4-768570CD3026}"/>
              </a:ext>
            </a:extLst>
          </p:cNvPr>
          <p:cNvSpPr/>
          <p:nvPr/>
        </p:nvSpPr>
        <p:spPr>
          <a:xfrm>
            <a:off x="7091570" y="4076700"/>
            <a:ext cx="685800" cy="4572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0" name="Arrow: Right 19">
            <a:extLst>
              <a:ext uri="{FF2B5EF4-FFF2-40B4-BE49-F238E27FC236}">
                <a16:creationId xmlns:a16="http://schemas.microsoft.com/office/drawing/2014/main" id="{D91F2A3F-1F9C-B62E-EA25-E16601F0E77D}"/>
              </a:ext>
            </a:extLst>
          </p:cNvPr>
          <p:cNvSpPr/>
          <p:nvPr/>
        </p:nvSpPr>
        <p:spPr>
          <a:xfrm>
            <a:off x="10434430" y="4076700"/>
            <a:ext cx="685800" cy="4572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1" name="Arrow: Right 20">
            <a:extLst>
              <a:ext uri="{FF2B5EF4-FFF2-40B4-BE49-F238E27FC236}">
                <a16:creationId xmlns:a16="http://schemas.microsoft.com/office/drawing/2014/main" id="{F87A010D-51A7-7E59-C77C-F8848150CBEC}"/>
              </a:ext>
            </a:extLst>
          </p:cNvPr>
          <p:cNvSpPr/>
          <p:nvPr/>
        </p:nvSpPr>
        <p:spPr>
          <a:xfrm>
            <a:off x="14058900" y="4076700"/>
            <a:ext cx="685800" cy="4572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2" name="Arrow: Right 21">
            <a:extLst>
              <a:ext uri="{FF2B5EF4-FFF2-40B4-BE49-F238E27FC236}">
                <a16:creationId xmlns:a16="http://schemas.microsoft.com/office/drawing/2014/main" id="{2B843BAF-71B3-25FA-4384-8A3191EC9B54}"/>
              </a:ext>
            </a:extLst>
          </p:cNvPr>
          <p:cNvSpPr/>
          <p:nvPr/>
        </p:nvSpPr>
        <p:spPr>
          <a:xfrm rot="5400000">
            <a:off x="15712109" y="5585793"/>
            <a:ext cx="914398" cy="63941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r"/>
            <a:endParaRPr lang="en-US" dirty="0"/>
          </a:p>
        </p:txBody>
      </p:sp>
      <p:sp>
        <p:nvSpPr>
          <p:cNvPr id="23" name="Arrow: Right 22">
            <a:extLst>
              <a:ext uri="{FF2B5EF4-FFF2-40B4-BE49-F238E27FC236}">
                <a16:creationId xmlns:a16="http://schemas.microsoft.com/office/drawing/2014/main" id="{42B8C038-433E-1F79-6619-50E466E2FC8E}"/>
              </a:ext>
            </a:extLst>
          </p:cNvPr>
          <p:cNvSpPr/>
          <p:nvPr/>
        </p:nvSpPr>
        <p:spPr>
          <a:xfrm rot="10800000">
            <a:off x="14058900" y="7048500"/>
            <a:ext cx="685800" cy="4572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4" name="Title 23">
            <a:extLst>
              <a:ext uri="{FF2B5EF4-FFF2-40B4-BE49-F238E27FC236}">
                <a16:creationId xmlns:a16="http://schemas.microsoft.com/office/drawing/2014/main" id="{363C6D37-5A95-178C-D7A3-3FDA3919B140}"/>
              </a:ext>
            </a:extLst>
          </p:cNvPr>
          <p:cNvSpPr>
            <a:spLocks noGrp="1"/>
          </p:cNvSpPr>
          <p:nvPr>
            <p:ph type="title"/>
          </p:nvPr>
        </p:nvSpPr>
        <p:spPr>
          <a:xfrm>
            <a:off x="4953000" y="947958"/>
            <a:ext cx="6705600" cy="1485900"/>
          </a:xfrm>
        </p:spPr>
        <p:txBody>
          <a:bodyPr>
            <a:normAutofit/>
          </a:bodyPr>
          <a:lstStyle/>
          <a:p>
            <a:r>
              <a:rPr lang="en-US" b="1" u="sng" dirty="0"/>
              <a:t>System </a:t>
            </a:r>
            <a:r>
              <a:rPr lang="en-US" b="1" u="sng" dirty="0" err="1"/>
              <a:t>Decompositon</a:t>
            </a:r>
            <a:endParaRPr lang="en-US" b="1" u="sng" dirty="0"/>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4CFE-327D-AE13-4B3C-48F5C299C9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07EE-BD63-E8FB-916F-EB9628858D6B}"/>
              </a:ext>
            </a:extLst>
          </p:cNvPr>
          <p:cNvSpPr/>
          <p:nvPr/>
        </p:nvSpPr>
        <p:spPr>
          <a:xfrm>
            <a:off x="457200" y="266700"/>
            <a:ext cx="2143604" cy="2590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A584E38-E039-1A2B-5A26-A4E5CAB7D905}"/>
              </a:ext>
            </a:extLst>
          </p:cNvPr>
          <p:cNvSpPr/>
          <p:nvPr/>
        </p:nvSpPr>
        <p:spPr>
          <a:xfrm flipH="1" flipV="1">
            <a:off x="16122459" y="7521660"/>
            <a:ext cx="1757602" cy="2498639"/>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70943714-4A23-19AC-0987-FD5DF6065728}"/>
              </a:ext>
            </a:extLst>
          </p:cNvPr>
          <p:cNvSpPr/>
          <p:nvPr/>
        </p:nvSpPr>
        <p:spPr>
          <a:xfrm>
            <a:off x="407939" y="9246154"/>
            <a:ext cx="1452802" cy="774145"/>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C37D669-475D-BBB7-CCDB-185D06A5F728}"/>
              </a:ext>
            </a:extLst>
          </p:cNvPr>
          <p:cNvSpPr/>
          <p:nvPr/>
        </p:nvSpPr>
        <p:spPr>
          <a:xfrm flipH="1">
            <a:off x="16073198" y="266700"/>
            <a:ext cx="1757602" cy="762000"/>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Flowchart: Punched Tape 2">
            <a:extLst>
              <a:ext uri="{FF2B5EF4-FFF2-40B4-BE49-F238E27FC236}">
                <a16:creationId xmlns:a16="http://schemas.microsoft.com/office/drawing/2014/main" id="{D304DEBC-6BD5-473B-8797-DF67483F859E}"/>
              </a:ext>
            </a:extLst>
          </p:cNvPr>
          <p:cNvSpPr/>
          <p:nvPr/>
        </p:nvSpPr>
        <p:spPr>
          <a:xfrm>
            <a:off x="5181600" y="988329"/>
            <a:ext cx="6477000" cy="2438401"/>
          </a:xfrm>
          <a:prstGeom prst="flowChartPunchedTape">
            <a:avLst/>
          </a:prstGeom>
          <a:solidFill>
            <a:schemeClr val="accent4"/>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Basic Concept</a:t>
            </a:r>
            <a:endParaRPr lang="en-IN" sz="4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897E6B8-95CE-443E-B789-55F8048C91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00" y="4686300"/>
            <a:ext cx="5943601" cy="3300284"/>
          </a:xfrm>
          <a:prstGeom prst="rect">
            <a:avLst/>
          </a:prstGeom>
        </p:spPr>
      </p:pic>
      <p:pic>
        <p:nvPicPr>
          <p:cNvPr id="10" name="Picture 9">
            <a:extLst>
              <a:ext uri="{FF2B5EF4-FFF2-40B4-BE49-F238E27FC236}">
                <a16:creationId xmlns:a16="http://schemas.microsoft.com/office/drawing/2014/main" id="{ED146044-CC56-4B6E-BD8B-79C881D966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12645" y="5117241"/>
            <a:ext cx="7059159" cy="2438401"/>
          </a:xfrm>
          <a:prstGeom prst="rect">
            <a:avLst/>
          </a:prstGeom>
        </p:spPr>
      </p:pic>
      <p:sp>
        <p:nvSpPr>
          <p:cNvPr id="11" name="Flowchart: Magnetic Disk 10">
            <a:extLst>
              <a:ext uri="{FF2B5EF4-FFF2-40B4-BE49-F238E27FC236}">
                <a16:creationId xmlns:a16="http://schemas.microsoft.com/office/drawing/2014/main" id="{496ED55B-C7D1-4079-8C52-9C2A78038B19}"/>
              </a:ext>
            </a:extLst>
          </p:cNvPr>
          <p:cNvSpPr/>
          <p:nvPr/>
        </p:nvSpPr>
        <p:spPr>
          <a:xfrm>
            <a:off x="7508201" y="5616661"/>
            <a:ext cx="2262249" cy="1905000"/>
          </a:xfrm>
          <a:prstGeom prst="flowChartMagneticDisk">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bg2"/>
                </a:solidFill>
                <a:latin typeface="Times New Roman" panose="02020603050405020304" pitchFamily="18" charset="0"/>
                <a:cs typeface="Times New Roman" panose="02020603050405020304" pitchFamily="18" charset="0"/>
              </a:rPr>
              <a:t>PiezoElectricity</a:t>
            </a:r>
            <a:endParaRPr lang="en-IN" sz="2400"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2467167"/>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4CFE-327D-AE13-4B3C-48F5C299C9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07EE-BD63-E8FB-916F-EB9628858D6B}"/>
              </a:ext>
            </a:extLst>
          </p:cNvPr>
          <p:cNvSpPr/>
          <p:nvPr/>
        </p:nvSpPr>
        <p:spPr>
          <a:xfrm>
            <a:off x="370996" y="266700"/>
            <a:ext cx="2143604" cy="28956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A584E38-E039-1A2B-5A26-A4E5CAB7D905}"/>
              </a:ext>
            </a:extLst>
          </p:cNvPr>
          <p:cNvSpPr/>
          <p:nvPr/>
        </p:nvSpPr>
        <p:spPr>
          <a:xfrm flipH="1" flipV="1">
            <a:off x="15473602" y="7262692"/>
            <a:ext cx="2433398" cy="2757607"/>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70943714-4A23-19AC-0987-FD5DF6065728}"/>
              </a:ext>
            </a:extLst>
          </p:cNvPr>
          <p:cNvSpPr/>
          <p:nvPr/>
        </p:nvSpPr>
        <p:spPr>
          <a:xfrm>
            <a:off x="756998" y="9105900"/>
            <a:ext cx="1376602" cy="914399"/>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C37D669-475D-BBB7-CCDB-185D06A5F728}"/>
              </a:ext>
            </a:extLst>
          </p:cNvPr>
          <p:cNvSpPr/>
          <p:nvPr/>
        </p:nvSpPr>
        <p:spPr>
          <a:xfrm flipH="1">
            <a:off x="15849600" y="266700"/>
            <a:ext cx="1757602" cy="762000"/>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Arrow: Left-Right 4">
            <a:extLst>
              <a:ext uri="{FF2B5EF4-FFF2-40B4-BE49-F238E27FC236}">
                <a16:creationId xmlns:a16="http://schemas.microsoft.com/office/drawing/2014/main" id="{02726A29-2831-4E5A-BB4D-7BDFFCCCA29D}"/>
              </a:ext>
            </a:extLst>
          </p:cNvPr>
          <p:cNvSpPr/>
          <p:nvPr/>
        </p:nvSpPr>
        <p:spPr>
          <a:xfrm>
            <a:off x="4191000" y="3162300"/>
            <a:ext cx="8534400" cy="1752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i="1" dirty="0">
                <a:solidFill>
                  <a:schemeClr val="tx1"/>
                </a:solidFill>
                <a:latin typeface="Times New Roman" panose="02020603050405020304" pitchFamily="18" charset="0"/>
                <a:cs typeface="Times New Roman" panose="02020603050405020304" pitchFamily="18" charset="0"/>
              </a:rPr>
              <a:t>Pressure To Electrical Mapping</a:t>
            </a:r>
            <a:endParaRPr lang="en-IN" sz="4000" b="1" i="1" dirty="0">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319C5A6-6EE0-42F6-948C-99824125973C}"/>
              </a:ext>
            </a:extLst>
          </p:cNvPr>
          <p:cNvSpPr txBox="1"/>
          <p:nvPr/>
        </p:nvSpPr>
        <p:spPr>
          <a:xfrm>
            <a:off x="1442798" y="5600700"/>
            <a:ext cx="5415202" cy="2092881"/>
          </a:xfrm>
          <a:prstGeom prst="rect">
            <a:avLst/>
          </a:prstGeom>
          <a:noFill/>
        </p:spPr>
        <p:txBody>
          <a:bodyPr wrap="square" rtlCol="0">
            <a:spAutoFit/>
          </a:bodyPr>
          <a:lstStyle/>
          <a:p>
            <a:pPr lvl="2"/>
            <a:endParaRPr lang="en-US" dirty="0"/>
          </a:p>
          <a:p>
            <a:pPr lvl="2"/>
            <a:endParaRPr lang="en-US" sz="2800" dirty="0"/>
          </a:p>
          <a:p>
            <a:pPr marL="342900" indent="-342900">
              <a:buAutoNum type="arabicParenR"/>
            </a:pPr>
            <a:r>
              <a:rPr lang="en-US" sz="2800" b="1" dirty="0">
                <a:solidFill>
                  <a:schemeClr val="accent5">
                    <a:lumMod val="50000"/>
                  </a:schemeClr>
                </a:solidFill>
                <a:latin typeface="Times New Roman" panose="02020603050405020304" pitchFamily="18" charset="0"/>
                <a:cs typeface="Times New Roman" panose="02020603050405020304" pitchFamily="18" charset="0"/>
              </a:rPr>
              <a:t>Pressure Taken as Input</a:t>
            </a:r>
          </a:p>
          <a:p>
            <a:pPr marL="342900" indent="-342900">
              <a:buAutoNum type="arabicParenR"/>
            </a:pPr>
            <a:r>
              <a:rPr lang="en-US" sz="2800" b="1" dirty="0">
                <a:solidFill>
                  <a:schemeClr val="accent5">
                    <a:lumMod val="50000"/>
                  </a:schemeClr>
                </a:solidFill>
                <a:latin typeface="Times New Roman" panose="02020603050405020304" pitchFamily="18" charset="0"/>
                <a:cs typeface="Times New Roman" panose="02020603050405020304" pitchFamily="18" charset="0"/>
              </a:rPr>
              <a:t>Pressure Changes To Voltage </a:t>
            </a:r>
          </a:p>
          <a:p>
            <a:pPr marL="342900" indent="-342900">
              <a:buAutoNum type="arabicParenR"/>
            </a:pPr>
            <a:r>
              <a:rPr lang="en-US" sz="2800" b="1" dirty="0">
                <a:solidFill>
                  <a:schemeClr val="accent5">
                    <a:lumMod val="50000"/>
                  </a:schemeClr>
                </a:solidFill>
                <a:latin typeface="Times New Roman" panose="02020603050405020304" pitchFamily="18" charset="0"/>
                <a:cs typeface="Times New Roman" panose="02020603050405020304" pitchFamily="18" charset="0"/>
              </a:rPr>
              <a:t>D=Piezo-Electric Coefficient</a:t>
            </a:r>
            <a:endParaRPr lang="en-IN" sz="2800" b="1" dirty="0">
              <a:solidFill>
                <a:schemeClr val="accent5">
                  <a:lumMod val="5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8E581A0-BF54-48D1-8007-5348E9679980}"/>
                  </a:ext>
                </a:extLst>
              </p:cNvPr>
              <p:cNvSpPr/>
              <p:nvPr/>
            </p:nvSpPr>
            <p:spPr>
              <a:xfrm>
                <a:off x="11192978" y="5720834"/>
                <a:ext cx="4885222" cy="1554528"/>
              </a:xfrm>
              <a:prstGeom prst="rect">
                <a:avLst/>
              </a:prstGeom>
            </p:spPr>
            <p:txBody>
              <a:bodyPr wrap="square">
                <a:spAutoFit/>
              </a:bodyPr>
              <a:lstStyle/>
              <a:p>
                <a:r>
                  <a:rPr lang="en-US" sz="6600" b="1" dirty="0">
                    <a:solidFill>
                      <a:schemeClr val="bg2">
                        <a:lumMod val="25000"/>
                      </a:schemeClr>
                    </a:solidFill>
                    <a:latin typeface="Times New Roman" panose="02020603050405020304" pitchFamily="18" charset="0"/>
                    <a:cs typeface="Times New Roman" panose="02020603050405020304" pitchFamily="18" charset="0"/>
                  </a:rPr>
                  <a:t>V</a:t>
                </a:r>
                <a14:m>
                  <m:oMath xmlns:m="http://schemas.openxmlformats.org/officeDocument/2006/math">
                    <m:r>
                      <a:rPr lang="en-US" sz="6600" b="1" i="1" smtClean="0">
                        <a:solidFill>
                          <a:schemeClr val="bg2">
                            <a:lumMod val="25000"/>
                          </a:schemeClr>
                        </a:solidFill>
                        <a:latin typeface="Cambria Math" panose="02040503050406030204" pitchFamily="18" charset="0"/>
                        <a:cs typeface="Times New Roman" panose="02020603050405020304" pitchFamily="18" charset="0"/>
                      </a:rPr>
                      <m:t>=</m:t>
                    </m:r>
                    <m:f>
                      <m:fPr>
                        <m:ctrlPr>
                          <a:rPr lang="en-US" sz="6600" b="1" i="1" smtClean="0">
                            <a:solidFill>
                              <a:schemeClr val="bg2">
                                <a:lumMod val="25000"/>
                              </a:schemeClr>
                            </a:solidFill>
                            <a:latin typeface="Cambria Math" panose="02040503050406030204" pitchFamily="18" charset="0"/>
                            <a:cs typeface="Times New Roman" panose="02020603050405020304" pitchFamily="18" charset="0"/>
                          </a:rPr>
                        </m:ctrlPr>
                      </m:fPr>
                      <m:num>
                        <m:r>
                          <a:rPr lang="en-US" sz="6600" b="1" i="1" smtClean="0">
                            <a:solidFill>
                              <a:schemeClr val="bg2">
                                <a:lumMod val="25000"/>
                              </a:schemeClr>
                            </a:solidFill>
                            <a:latin typeface="Cambria Math" panose="02040503050406030204" pitchFamily="18" charset="0"/>
                            <a:cs typeface="Times New Roman" panose="02020603050405020304" pitchFamily="18" charset="0"/>
                          </a:rPr>
                          <m:t>𝑫</m:t>
                        </m:r>
                        <m:r>
                          <a:rPr lang="en-US" sz="6600" b="1" i="1" smtClean="0">
                            <a:solidFill>
                              <a:schemeClr val="bg2">
                                <a:lumMod val="25000"/>
                              </a:schemeClr>
                            </a:solidFill>
                            <a:latin typeface="Cambria Math" panose="02040503050406030204" pitchFamily="18" charset="0"/>
                            <a:cs typeface="Times New Roman" panose="02020603050405020304" pitchFamily="18" charset="0"/>
                          </a:rPr>
                          <m:t>∗</m:t>
                        </m:r>
                        <m:r>
                          <a:rPr lang="en-US" sz="6600" b="1" i="1" smtClean="0">
                            <a:solidFill>
                              <a:schemeClr val="bg2">
                                <a:lumMod val="25000"/>
                              </a:schemeClr>
                            </a:solidFill>
                            <a:latin typeface="Cambria Math" panose="02040503050406030204" pitchFamily="18" charset="0"/>
                            <a:cs typeface="Times New Roman" panose="02020603050405020304" pitchFamily="18" charset="0"/>
                          </a:rPr>
                          <m:t>𝑷</m:t>
                        </m:r>
                        <m:r>
                          <a:rPr lang="en-US" sz="6600" b="1" i="1" smtClean="0">
                            <a:solidFill>
                              <a:schemeClr val="bg2">
                                <a:lumMod val="25000"/>
                              </a:schemeClr>
                            </a:solidFill>
                            <a:latin typeface="Cambria Math" panose="02040503050406030204" pitchFamily="18" charset="0"/>
                            <a:cs typeface="Times New Roman" panose="02020603050405020304" pitchFamily="18" charset="0"/>
                          </a:rPr>
                          <m:t>∗</m:t>
                        </m:r>
                        <m:r>
                          <a:rPr lang="en-US" sz="6600" b="1" i="1" smtClean="0">
                            <a:solidFill>
                              <a:schemeClr val="bg2">
                                <a:lumMod val="25000"/>
                              </a:schemeClr>
                            </a:solidFill>
                            <a:latin typeface="Cambria Math" panose="02040503050406030204" pitchFamily="18" charset="0"/>
                            <a:cs typeface="Times New Roman" panose="02020603050405020304" pitchFamily="18" charset="0"/>
                          </a:rPr>
                          <m:t>𝒕</m:t>
                        </m:r>
                      </m:num>
                      <m:den>
                        <m:r>
                          <a:rPr lang="en-US" sz="6600" b="1" i="1" smtClean="0">
                            <a:solidFill>
                              <a:schemeClr val="bg2">
                                <a:lumMod val="25000"/>
                              </a:schemeClr>
                            </a:solidFill>
                            <a:latin typeface="Cambria Math" panose="02040503050406030204" pitchFamily="18" charset="0"/>
                            <a:cs typeface="Times New Roman" panose="02020603050405020304" pitchFamily="18" charset="0"/>
                          </a:rPr>
                          <m:t>𝑬𝒓</m:t>
                        </m:r>
                        <m:r>
                          <a:rPr lang="en-US" sz="6600" b="1" i="1" smtClean="0">
                            <a:solidFill>
                              <a:schemeClr val="bg2">
                                <a:lumMod val="25000"/>
                              </a:schemeClr>
                            </a:solidFill>
                            <a:latin typeface="Cambria Math" panose="02040503050406030204" pitchFamily="18" charset="0"/>
                            <a:cs typeface="Times New Roman" panose="02020603050405020304" pitchFamily="18" charset="0"/>
                          </a:rPr>
                          <m:t>∗</m:t>
                        </m:r>
                        <m:r>
                          <a:rPr lang="en-US" sz="6600" b="1" i="1" smtClean="0">
                            <a:solidFill>
                              <a:schemeClr val="bg2">
                                <a:lumMod val="25000"/>
                              </a:schemeClr>
                            </a:solidFill>
                            <a:latin typeface="Cambria Math" panose="02040503050406030204" pitchFamily="18" charset="0"/>
                            <a:cs typeface="Times New Roman" panose="02020603050405020304" pitchFamily="18" charset="0"/>
                          </a:rPr>
                          <m:t>𝑬𝒐</m:t>
                        </m:r>
                      </m:den>
                    </m:f>
                  </m:oMath>
                </a14:m>
                <a:endParaRPr lang="en-IN" sz="6600" b="1" dirty="0">
                  <a:solidFill>
                    <a:schemeClr val="bg2">
                      <a:lumMod val="25000"/>
                    </a:schemeClr>
                  </a:solidFill>
                  <a:latin typeface="Times New Roman" panose="02020603050405020304" pitchFamily="18"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78E581A0-BF54-48D1-8007-5348E9679980}"/>
                  </a:ext>
                </a:extLst>
              </p:cNvPr>
              <p:cNvSpPr>
                <a:spLocks noRot="1" noChangeAspect="1" noMove="1" noResize="1" noEditPoints="1" noAdjustHandles="1" noChangeArrowheads="1" noChangeShapeType="1" noTextEdit="1"/>
              </p:cNvSpPr>
              <p:nvPr/>
            </p:nvSpPr>
            <p:spPr>
              <a:xfrm>
                <a:off x="11192978" y="5720834"/>
                <a:ext cx="4885222" cy="1554528"/>
              </a:xfrm>
              <a:prstGeom prst="rect">
                <a:avLst/>
              </a:prstGeom>
              <a:blipFill>
                <a:blip r:embed="rId6"/>
                <a:stretch>
                  <a:fillRect l="-8479" b="-14510"/>
                </a:stretch>
              </a:blipFill>
            </p:spPr>
            <p:txBody>
              <a:bodyPr/>
              <a:lstStyle/>
              <a:p>
                <a:r>
                  <a:rPr lang="en-IN">
                    <a:noFill/>
                  </a:rPr>
                  <a:t> </a:t>
                </a:r>
              </a:p>
            </p:txBody>
          </p:sp>
        </mc:Fallback>
      </mc:AlternateContent>
    </p:spTree>
    <p:extLst>
      <p:ext uri="{BB962C8B-B14F-4D97-AF65-F5344CB8AC3E}">
        <p14:creationId xmlns:p14="http://schemas.microsoft.com/office/powerpoint/2010/main" val="3621412138"/>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4CFE-327D-AE13-4B3C-48F5C299C9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07EE-BD63-E8FB-916F-EB9628858D6B}"/>
              </a:ext>
            </a:extLst>
          </p:cNvPr>
          <p:cNvSpPr/>
          <p:nvPr/>
        </p:nvSpPr>
        <p:spPr>
          <a:xfrm>
            <a:off x="457200" y="266700"/>
            <a:ext cx="2743200" cy="3124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A584E38-E039-1A2B-5A26-A4E5CAB7D905}"/>
              </a:ext>
            </a:extLst>
          </p:cNvPr>
          <p:cNvSpPr/>
          <p:nvPr/>
        </p:nvSpPr>
        <p:spPr>
          <a:xfrm flipH="1" flipV="1">
            <a:off x="15621000" y="7124700"/>
            <a:ext cx="2286000" cy="28956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70943714-4A23-19AC-0987-FD5DF6065728}"/>
              </a:ext>
            </a:extLst>
          </p:cNvPr>
          <p:cNvSpPr/>
          <p:nvPr/>
        </p:nvSpPr>
        <p:spPr>
          <a:xfrm>
            <a:off x="581796" y="9042682"/>
            <a:ext cx="1722003" cy="859622"/>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C37D669-475D-BBB7-CCDB-185D06A5F728}"/>
              </a:ext>
            </a:extLst>
          </p:cNvPr>
          <p:cNvSpPr/>
          <p:nvPr/>
        </p:nvSpPr>
        <p:spPr>
          <a:xfrm flipH="1">
            <a:off x="15621000" y="266700"/>
            <a:ext cx="1833802" cy="838200"/>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Arrow: Left-Right 4">
            <a:extLst>
              <a:ext uri="{FF2B5EF4-FFF2-40B4-BE49-F238E27FC236}">
                <a16:creationId xmlns:a16="http://schemas.microsoft.com/office/drawing/2014/main" id="{02726A29-2831-4E5A-BB4D-7BDFFCCCA29D}"/>
              </a:ext>
            </a:extLst>
          </p:cNvPr>
          <p:cNvSpPr/>
          <p:nvPr/>
        </p:nvSpPr>
        <p:spPr>
          <a:xfrm>
            <a:off x="4191000" y="3162300"/>
            <a:ext cx="8534400" cy="1752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i="1" dirty="0">
                <a:solidFill>
                  <a:schemeClr val="tx1"/>
                </a:solidFill>
                <a:latin typeface="Times New Roman" panose="02020603050405020304" pitchFamily="18" charset="0"/>
                <a:cs typeface="Times New Roman" panose="02020603050405020304" pitchFamily="18" charset="0"/>
              </a:rPr>
              <a:t>Voltage To Length Mapping</a:t>
            </a:r>
            <a:endParaRPr lang="en-IN" sz="4000" b="1" i="1" dirty="0">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319C5A6-6EE0-42F6-948C-99824125973C}"/>
              </a:ext>
            </a:extLst>
          </p:cNvPr>
          <p:cNvSpPr txBox="1"/>
          <p:nvPr/>
        </p:nvSpPr>
        <p:spPr>
          <a:xfrm>
            <a:off x="1442798" y="5600700"/>
            <a:ext cx="5415202" cy="1661993"/>
          </a:xfrm>
          <a:prstGeom prst="rect">
            <a:avLst/>
          </a:prstGeom>
          <a:noFill/>
        </p:spPr>
        <p:txBody>
          <a:bodyPr wrap="square" rtlCol="0">
            <a:spAutoFit/>
          </a:bodyPr>
          <a:lstStyle/>
          <a:p>
            <a:pPr lvl="2"/>
            <a:endParaRPr lang="en-US" dirty="0"/>
          </a:p>
          <a:p>
            <a:pPr lvl="2"/>
            <a:endParaRPr lang="en-US" sz="2800" dirty="0"/>
          </a:p>
          <a:p>
            <a:pPr marL="342900" indent="-342900">
              <a:buAutoNum type="arabicParenR"/>
            </a:pPr>
            <a:r>
              <a:rPr lang="en-US" sz="2800" b="1" dirty="0">
                <a:solidFill>
                  <a:srgbClr val="C00000"/>
                </a:solidFill>
                <a:latin typeface="Times New Roman" panose="02020603050405020304" pitchFamily="18" charset="0"/>
                <a:cs typeface="Times New Roman" panose="02020603050405020304" pitchFamily="18" charset="0"/>
              </a:rPr>
              <a:t>K Taken as Constant</a:t>
            </a:r>
          </a:p>
          <a:p>
            <a:pPr marL="342900" indent="-342900">
              <a:buAutoNum type="arabicParenR"/>
            </a:pPr>
            <a:r>
              <a:rPr lang="en-US" sz="2800" b="1" dirty="0">
                <a:solidFill>
                  <a:srgbClr val="C00000"/>
                </a:solidFill>
                <a:latin typeface="Times New Roman" panose="02020603050405020304" pitchFamily="18" charset="0"/>
                <a:cs typeface="Times New Roman" panose="02020603050405020304" pitchFamily="18" charset="0"/>
              </a:rPr>
              <a:t>Voltage Changes To Length </a:t>
            </a:r>
            <a:endParaRPr lang="en-IN" sz="2800"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DFE6677-F42F-449E-AA4F-990585AE430F}"/>
                  </a:ext>
                </a:extLst>
              </p:cNvPr>
              <p:cNvSpPr txBox="1"/>
              <p:nvPr/>
            </p:nvSpPr>
            <p:spPr>
              <a:xfrm>
                <a:off x="7391400" y="5900351"/>
                <a:ext cx="2488787" cy="677108"/>
              </a:xfrm>
              <a:prstGeom prst="rect">
                <a:avLst/>
              </a:prstGeom>
              <a:noFill/>
            </p:spPr>
            <p:txBody>
              <a:bodyPr wrap="square" lIns="0" tIns="0" rIns="0" bIns="0" rtlCol="0">
                <a:spAutoFit/>
              </a:bodyPr>
              <a:lstStyle/>
              <a:p>
                <a:r>
                  <a:rPr lang="en-IN" dirty="0"/>
                  <a:t>    </a:t>
                </a:r>
                <a:r>
                  <a:rPr lang="en-IN" sz="4400" b="1" dirty="0"/>
                  <a:t>L</a:t>
                </a:r>
                <a14:m>
                  <m:oMath xmlns:m="http://schemas.openxmlformats.org/officeDocument/2006/math">
                    <m:r>
                      <a:rPr lang="en-IN" sz="4400" b="1" i="1" smtClean="0">
                        <a:latin typeface="Cambria Math" panose="02040503050406030204" pitchFamily="18" charset="0"/>
                      </a:rPr>
                      <m:t>=</m:t>
                    </m:r>
                    <m:r>
                      <a:rPr lang="en-US" sz="4400" b="1" i="1" smtClean="0">
                        <a:latin typeface="Cambria Math" panose="02040503050406030204" pitchFamily="18" charset="0"/>
                      </a:rPr>
                      <m:t>𝑽</m:t>
                    </m:r>
                    <m:r>
                      <a:rPr lang="en-US" sz="4400" b="1" i="1" smtClean="0">
                        <a:latin typeface="Cambria Math" panose="02040503050406030204" pitchFamily="18" charset="0"/>
                      </a:rPr>
                      <m:t>/</m:t>
                    </m:r>
                    <m:r>
                      <a:rPr lang="en-US" sz="4400" b="1" i="1" smtClean="0">
                        <a:latin typeface="Cambria Math" panose="02040503050406030204" pitchFamily="18" charset="0"/>
                      </a:rPr>
                      <m:t>𝑲</m:t>
                    </m:r>
                  </m:oMath>
                </a14:m>
                <a:r>
                  <a:rPr lang="en-IN" sz="4400" b="1" dirty="0"/>
                  <a:t> </a:t>
                </a:r>
              </a:p>
            </p:txBody>
          </p:sp>
        </mc:Choice>
        <mc:Fallback xmlns="">
          <p:sp>
            <p:nvSpPr>
              <p:cNvPr id="3" name="TextBox 2">
                <a:extLst>
                  <a:ext uri="{FF2B5EF4-FFF2-40B4-BE49-F238E27FC236}">
                    <a16:creationId xmlns:a16="http://schemas.microsoft.com/office/drawing/2014/main" id="{8DFE6677-F42F-449E-AA4F-990585AE430F}"/>
                  </a:ext>
                </a:extLst>
              </p:cNvPr>
              <p:cNvSpPr txBox="1">
                <a:spLocks noRot="1" noChangeAspect="1" noMove="1" noResize="1" noEditPoints="1" noAdjustHandles="1" noChangeArrowheads="1" noChangeShapeType="1" noTextEdit="1"/>
              </p:cNvSpPr>
              <p:nvPr/>
            </p:nvSpPr>
            <p:spPr>
              <a:xfrm>
                <a:off x="7391400" y="5900351"/>
                <a:ext cx="2488787" cy="677108"/>
              </a:xfrm>
              <a:prstGeom prst="rect">
                <a:avLst/>
              </a:prstGeom>
              <a:blipFill>
                <a:blip r:embed="rId6"/>
                <a:stretch>
                  <a:fillRect l="-5392" t="-25225" b="-48649"/>
                </a:stretch>
              </a:blipFill>
            </p:spPr>
            <p:txBody>
              <a:bodyPr/>
              <a:lstStyle/>
              <a:p>
                <a:r>
                  <a:rPr lang="en-IN">
                    <a:noFill/>
                  </a:rPr>
                  <a:t> </a:t>
                </a:r>
              </a:p>
            </p:txBody>
          </p:sp>
        </mc:Fallback>
      </mc:AlternateContent>
    </p:spTree>
    <p:extLst>
      <p:ext uri="{BB962C8B-B14F-4D97-AF65-F5344CB8AC3E}">
        <p14:creationId xmlns:p14="http://schemas.microsoft.com/office/powerpoint/2010/main" val="3014569875"/>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4CFE-327D-AE13-4B3C-48F5C299C9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07EE-BD63-E8FB-916F-EB9628858D6B}"/>
              </a:ext>
            </a:extLst>
          </p:cNvPr>
          <p:cNvSpPr/>
          <p:nvPr/>
        </p:nvSpPr>
        <p:spPr>
          <a:xfrm>
            <a:off x="457200" y="266700"/>
            <a:ext cx="2667000" cy="32004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A584E38-E039-1A2B-5A26-A4E5CAB7D905}"/>
              </a:ext>
            </a:extLst>
          </p:cNvPr>
          <p:cNvSpPr/>
          <p:nvPr/>
        </p:nvSpPr>
        <p:spPr>
          <a:xfrm flipH="1" flipV="1">
            <a:off x="15087600" y="7267350"/>
            <a:ext cx="2819400" cy="275295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70943714-4A23-19AC-0987-FD5DF6065728}"/>
              </a:ext>
            </a:extLst>
          </p:cNvPr>
          <p:cNvSpPr/>
          <p:nvPr/>
        </p:nvSpPr>
        <p:spPr>
          <a:xfrm>
            <a:off x="893449" y="9105899"/>
            <a:ext cx="1392550" cy="744535"/>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C37D669-475D-BBB7-CCDB-185D06A5F728}"/>
              </a:ext>
            </a:extLst>
          </p:cNvPr>
          <p:cNvSpPr/>
          <p:nvPr/>
        </p:nvSpPr>
        <p:spPr>
          <a:xfrm flipH="1">
            <a:off x="15773400" y="274674"/>
            <a:ext cx="1681402" cy="906426"/>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lowchart: Terminator 5">
            <a:extLst>
              <a:ext uri="{FF2B5EF4-FFF2-40B4-BE49-F238E27FC236}">
                <a16:creationId xmlns:a16="http://schemas.microsoft.com/office/drawing/2014/main" id="{E3FD6CFB-1264-4943-959D-82D338F3BBD2}"/>
              </a:ext>
            </a:extLst>
          </p:cNvPr>
          <p:cNvSpPr/>
          <p:nvPr/>
        </p:nvSpPr>
        <p:spPr>
          <a:xfrm>
            <a:off x="5105400" y="2423206"/>
            <a:ext cx="6858000" cy="1676400"/>
          </a:xfrm>
          <a:prstGeom prst="flowChartTerminator">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2"/>
                </a:solidFill>
                <a:latin typeface="Times New Roman" panose="02020603050405020304" pitchFamily="18" charset="0"/>
                <a:cs typeface="Times New Roman" panose="02020603050405020304" pitchFamily="18" charset="0"/>
              </a:rPr>
              <a:t>Frequency Generation</a:t>
            </a:r>
            <a:endParaRPr lang="en-IN" sz="3600" b="1" dirty="0">
              <a:solidFill>
                <a:schemeClr val="tx2"/>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CF7723A-9D75-40D4-985E-E4E5D5641B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268200" y="5143500"/>
            <a:ext cx="3896045" cy="2752950"/>
          </a:xfrm>
          <a:prstGeom prst="rect">
            <a:avLst/>
          </a:prstGeom>
        </p:spPr>
      </p:pic>
      <p:sp>
        <p:nvSpPr>
          <p:cNvPr id="11" name="TextBox 10">
            <a:extLst>
              <a:ext uri="{FF2B5EF4-FFF2-40B4-BE49-F238E27FC236}">
                <a16:creationId xmlns:a16="http://schemas.microsoft.com/office/drawing/2014/main" id="{A67F6C20-D1AD-4F82-9952-2BDA679CBAE4}"/>
              </a:ext>
            </a:extLst>
          </p:cNvPr>
          <p:cNvSpPr txBox="1"/>
          <p:nvPr/>
        </p:nvSpPr>
        <p:spPr>
          <a:xfrm>
            <a:off x="2285999" y="5873644"/>
            <a:ext cx="8239445" cy="1654748"/>
          </a:xfrm>
          <a:prstGeom prst="rect">
            <a:avLst/>
          </a:prstGeom>
          <a:noFill/>
        </p:spPr>
        <p:txBody>
          <a:bodyPr wrap="square" rtlCol="0">
            <a:spAutoFit/>
          </a:bodyPr>
          <a:lstStyle/>
          <a:p>
            <a:pPr marL="342900" indent="-342900">
              <a:lnSpc>
                <a:spcPct val="150000"/>
              </a:lnSpc>
              <a:buAutoNum type="arabicParenR"/>
            </a:pPr>
            <a:r>
              <a:rPr lang="en-US" sz="3600" b="1" dirty="0">
                <a:latin typeface="Times New Roman" panose="02020603050405020304" pitchFamily="18" charset="0"/>
                <a:cs typeface="Times New Roman" panose="02020603050405020304" pitchFamily="18" charset="0"/>
              </a:rPr>
              <a:t>T=Tension &amp; u=Linear Mass Density</a:t>
            </a:r>
          </a:p>
          <a:p>
            <a:pPr marL="342900" indent="-342900">
              <a:lnSpc>
                <a:spcPct val="150000"/>
              </a:lnSpc>
              <a:buAutoNum type="arabicParenR"/>
            </a:pPr>
            <a:r>
              <a:rPr lang="en-US" sz="3600" b="1" dirty="0">
                <a:latin typeface="Times New Roman" panose="02020603050405020304" pitchFamily="18" charset="0"/>
                <a:cs typeface="Times New Roman" panose="02020603050405020304" pitchFamily="18" charset="0"/>
              </a:rPr>
              <a:t>Frequency Depends On Length</a:t>
            </a:r>
            <a:endParaRPr lang="en-IN" sz="36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2E0E384-EF3F-4147-9175-C44C26BAA319}"/>
              </a:ext>
            </a:extLst>
          </p:cNvPr>
          <p:cNvSpPr txBox="1"/>
          <p:nvPr/>
        </p:nvSpPr>
        <p:spPr>
          <a:xfrm>
            <a:off x="2362200" y="7537966"/>
            <a:ext cx="9906000" cy="1323439"/>
          </a:xfrm>
          <a:prstGeom prst="rect">
            <a:avLst/>
          </a:prstGeom>
          <a:noFill/>
        </p:spPr>
        <p:txBody>
          <a:bodyPr wrap="square" rtlCol="0">
            <a:spAutoFit/>
          </a:bodyPr>
          <a:lstStyle/>
          <a:p>
            <a:r>
              <a:rPr lang="en-US" sz="4000" b="1" dirty="0">
                <a:solidFill>
                  <a:srgbClr val="00B050"/>
                </a:solidFill>
                <a:latin typeface="Times New Roman" panose="02020603050405020304" pitchFamily="18" charset="0"/>
                <a:cs typeface="Times New Roman" panose="02020603050405020304" pitchFamily="18" charset="0"/>
              </a:rPr>
              <a:t>Frequency Adds To Bamboo Frequency 501.6 Hz</a:t>
            </a:r>
            <a:endParaRPr lang="en-IN" sz="40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1972092"/>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4CFE-327D-AE13-4B3C-48F5C299C9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07EE-BD63-E8FB-916F-EB9628858D6B}"/>
              </a:ext>
            </a:extLst>
          </p:cNvPr>
          <p:cNvSpPr/>
          <p:nvPr/>
        </p:nvSpPr>
        <p:spPr>
          <a:xfrm>
            <a:off x="304800" y="266700"/>
            <a:ext cx="3276600" cy="2893541"/>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A584E38-E039-1A2B-5A26-A4E5CAB7D905}"/>
              </a:ext>
            </a:extLst>
          </p:cNvPr>
          <p:cNvSpPr/>
          <p:nvPr/>
        </p:nvSpPr>
        <p:spPr>
          <a:xfrm flipH="1" flipV="1">
            <a:off x="14777798" y="6972300"/>
            <a:ext cx="3129202" cy="30480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70943714-4A23-19AC-0987-FD5DF6065728}"/>
              </a:ext>
            </a:extLst>
          </p:cNvPr>
          <p:cNvSpPr/>
          <p:nvPr/>
        </p:nvSpPr>
        <p:spPr>
          <a:xfrm>
            <a:off x="604598" y="8739291"/>
            <a:ext cx="1757602" cy="83365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C37D669-475D-BBB7-CCDB-185D06A5F728}"/>
              </a:ext>
            </a:extLst>
          </p:cNvPr>
          <p:cNvSpPr/>
          <p:nvPr/>
        </p:nvSpPr>
        <p:spPr>
          <a:xfrm flipH="1">
            <a:off x="15349298" y="723900"/>
            <a:ext cx="1986202" cy="838200"/>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3" name="Rectangle: Diagonal Corners Snipped 2">
            <a:extLst>
              <a:ext uri="{FF2B5EF4-FFF2-40B4-BE49-F238E27FC236}">
                <a16:creationId xmlns:a16="http://schemas.microsoft.com/office/drawing/2014/main" id="{48E9292E-F4D2-4908-B3A2-720C413ADED1}"/>
              </a:ext>
            </a:extLst>
          </p:cNvPr>
          <p:cNvSpPr/>
          <p:nvPr/>
        </p:nvSpPr>
        <p:spPr>
          <a:xfrm>
            <a:off x="5638800" y="1331441"/>
            <a:ext cx="5715000" cy="1828800"/>
          </a:xfrm>
          <a:prstGeom prst="snip2DiagRect">
            <a:avLst/>
          </a:prstGeom>
          <a:solidFill>
            <a:srgbClr val="36D6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1">
                    <a:lumMod val="50000"/>
                  </a:schemeClr>
                </a:solidFill>
              </a:rPr>
              <a:t>RC Design: FILTERING </a:t>
            </a:r>
            <a:endParaRPr lang="en-IN" sz="3200" b="1" dirty="0">
              <a:solidFill>
                <a:schemeClr val="accent1">
                  <a:lumMod val="50000"/>
                </a:schemeClr>
              </a:solidFill>
            </a:endParaRPr>
          </a:p>
        </p:txBody>
      </p:sp>
      <p:pic>
        <p:nvPicPr>
          <p:cNvPr id="6" name="Picture 5">
            <a:extLst>
              <a:ext uri="{FF2B5EF4-FFF2-40B4-BE49-F238E27FC236}">
                <a16:creationId xmlns:a16="http://schemas.microsoft.com/office/drawing/2014/main" id="{4F4F71AE-A6B4-4AC9-BF4C-9E7949A033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11106" y="3769842"/>
            <a:ext cx="9329094" cy="4969450"/>
          </a:xfrm>
          <a:prstGeom prst="rect">
            <a:avLst/>
          </a:prstGeom>
        </p:spPr>
      </p:pic>
      <p:pic>
        <p:nvPicPr>
          <p:cNvPr id="10" name="Picture 9">
            <a:extLst>
              <a:ext uri="{FF2B5EF4-FFF2-40B4-BE49-F238E27FC236}">
                <a16:creationId xmlns:a16="http://schemas.microsoft.com/office/drawing/2014/main" id="{38D221B7-8FD0-4199-B0D8-0B7545EF21A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87153" y="3442767"/>
            <a:ext cx="6198394" cy="3251616"/>
          </a:xfrm>
          <a:prstGeom prst="rect">
            <a:avLst/>
          </a:prstGeom>
        </p:spPr>
      </p:pic>
      <p:sp>
        <p:nvSpPr>
          <p:cNvPr id="11" name="TextBox 10">
            <a:extLst>
              <a:ext uri="{FF2B5EF4-FFF2-40B4-BE49-F238E27FC236}">
                <a16:creationId xmlns:a16="http://schemas.microsoft.com/office/drawing/2014/main" id="{70C3C33A-C2FE-492B-BDB7-E2D378110478}"/>
              </a:ext>
            </a:extLst>
          </p:cNvPr>
          <p:cNvSpPr txBox="1"/>
          <p:nvPr/>
        </p:nvSpPr>
        <p:spPr>
          <a:xfrm>
            <a:off x="2152650" y="6301305"/>
            <a:ext cx="5867400" cy="1828386"/>
          </a:xfrm>
          <a:prstGeom prst="rect">
            <a:avLst/>
          </a:prstGeom>
          <a:noFill/>
        </p:spPr>
        <p:txBody>
          <a:bodyPr wrap="square" rtlCol="0">
            <a:spAutoFit/>
          </a:bodyPr>
          <a:lstStyle/>
          <a:p>
            <a:pPr marL="342900" indent="-342900">
              <a:lnSpc>
                <a:spcPct val="150000"/>
              </a:lnSpc>
              <a:buFontTx/>
              <a:buAutoNum type="arabicParenR"/>
            </a:pPr>
            <a:r>
              <a:rPr lang="en-US" sz="4000" b="1" dirty="0">
                <a:solidFill>
                  <a:schemeClr val="tx2">
                    <a:lumMod val="50000"/>
                  </a:schemeClr>
                </a:solidFill>
                <a:latin typeface="Times New Roman" panose="02020603050405020304" pitchFamily="18" charset="0"/>
                <a:cs typeface="Times New Roman" panose="02020603050405020304" pitchFamily="18" charset="0"/>
              </a:rPr>
              <a:t>FC for High Pass Filter </a:t>
            </a:r>
          </a:p>
          <a:p>
            <a:pPr marL="342900" indent="-342900">
              <a:lnSpc>
                <a:spcPct val="150000"/>
              </a:lnSpc>
              <a:buAutoNum type="arabicParenR"/>
            </a:pPr>
            <a:r>
              <a:rPr lang="en-US" sz="4000" b="1" dirty="0">
                <a:solidFill>
                  <a:schemeClr val="tx2">
                    <a:lumMod val="50000"/>
                  </a:schemeClr>
                </a:solidFill>
                <a:latin typeface="Times New Roman" panose="02020603050405020304" pitchFamily="18" charset="0"/>
                <a:cs typeface="Times New Roman" panose="02020603050405020304" pitchFamily="18" charset="0"/>
              </a:rPr>
              <a:t>Low Pass Filter 98Hz</a:t>
            </a:r>
            <a:endParaRPr lang="en-IN" sz="4000" b="1"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3114866"/>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4CFE-327D-AE13-4B3C-48F5C299C9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07EE-BD63-E8FB-916F-EB9628858D6B}"/>
              </a:ext>
            </a:extLst>
          </p:cNvPr>
          <p:cNvSpPr/>
          <p:nvPr/>
        </p:nvSpPr>
        <p:spPr>
          <a:xfrm>
            <a:off x="457200" y="2667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A584E38-E039-1A2B-5A26-A4E5CAB7D905}"/>
              </a:ext>
            </a:extLst>
          </p:cNvPr>
          <p:cNvSpPr/>
          <p:nvPr/>
        </p:nvSpPr>
        <p:spPr>
          <a:xfrm flipH="1" flipV="1">
            <a:off x="13792200" y="57531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7" name="Freeform 7">
            <a:extLst>
              <a:ext uri="{FF2B5EF4-FFF2-40B4-BE49-F238E27FC236}">
                <a16:creationId xmlns:a16="http://schemas.microsoft.com/office/drawing/2014/main" id="{70943714-4A23-19AC-0987-FD5DF6065728}"/>
              </a:ext>
            </a:extLst>
          </p:cNvPr>
          <p:cNvSpPr/>
          <p:nvPr/>
        </p:nvSpPr>
        <p:spPr>
          <a:xfrm>
            <a:off x="1442798" y="8724900"/>
            <a:ext cx="2143604" cy="98605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C37D669-475D-BBB7-CCDB-185D06A5F728}"/>
              </a:ext>
            </a:extLst>
          </p:cNvPr>
          <p:cNvSpPr/>
          <p:nvPr/>
        </p:nvSpPr>
        <p:spPr>
          <a:xfrm flipH="1">
            <a:off x="14777798" y="495300"/>
            <a:ext cx="2143604" cy="986058"/>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Rectangle 2">
            <a:extLst>
              <a:ext uri="{FF2B5EF4-FFF2-40B4-BE49-F238E27FC236}">
                <a16:creationId xmlns:a16="http://schemas.microsoft.com/office/drawing/2014/main" id="{AC347105-8967-4BBC-8CFD-D30242CBFAA1}"/>
              </a:ext>
            </a:extLst>
          </p:cNvPr>
          <p:cNvSpPr/>
          <p:nvPr/>
        </p:nvSpPr>
        <p:spPr>
          <a:xfrm>
            <a:off x="4724400" y="1739900"/>
            <a:ext cx="8153400" cy="175260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2"/>
                </a:solidFill>
                <a:latin typeface="Times New Roman" panose="02020603050405020304" pitchFamily="18" charset="0"/>
                <a:cs typeface="Times New Roman" panose="02020603050405020304" pitchFamily="18" charset="0"/>
              </a:rPr>
              <a:t>Fourier Series &amp; Signal Construction</a:t>
            </a:r>
            <a:endParaRPr lang="en-IN" sz="4000" dirty="0">
              <a:solidFill>
                <a:schemeClr val="bg2"/>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7541610-E36A-41F1-A123-7ABD19E97B57}"/>
              </a:ext>
            </a:extLst>
          </p:cNvPr>
          <p:cNvSpPr txBox="1"/>
          <p:nvPr/>
        </p:nvSpPr>
        <p:spPr>
          <a:xfrm>
            <a:off x="2667000" y="6819900"/>
            <a:ext cx="9829800" cy="1200329"/>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1)</a:t>
            </a:r>
            <a:r>
              <a:rPr lang="en-US" sz="3600" dirty="0">
                <a:solidFill>
                  <a:schemeClr val="tx2">
                    <a:lumMod val="50000"/>
                  </a:schemeClr>
                </a:solidFill>
                <a:latin typeface="Times New Roman" panose="02020603050405020304" pitchFamily="18" charset="0"/>
                <a:cs typeface="Times New Roman" panose="02020603050405020304" pitchFamily="18" charset="0"/>
              </a:rPr>
              <a:t>Done For Fourier Analysis </a:t>
            </a:r>
          </a:p>
          <a:p>
            <a:r>
              <a:rPr lang="en-US" sz="3600" dirty="0">
                <a:solidFill>
                  <a:schemeClr val="tx2">
                    <a:lumMod val="50000"/>
                  </a:schemeClr>
                </a:solidFill>
                <a:latin typeface="Times New Roman" panose="02020603050405020304" pitchFamily="18" charset="0"/>
                <a:cs typeface="Times New Roman" panose="02020603050405020304" pitchFamily="18" charset="0"/>
              </a:rPr>
              <a:t>2) Shows  For Fourier Epicycles &amp; Phases </a:t>
            </a:r>
            <a:endParaRPr lang="en-IN" sz="3600" dirty="0">
              <a:solidFill>
                <a:schemeClr val="tx2">
                  <a:lumMod val="5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C9FDF17-26D7-4A25-8277-856D7EF3C327}"/>
                  </a:ext>
                </a:extLst>
              </p:cNvPr>
              <p:cNvSpPr/>
              <p:nvPr/>
            </p:nvSpPr>
            <p:spPr>
              <a:xfrm>
                <a:off x="457200" y="4035484"/>
                <a:ext cx="17221200" cy="14713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600" b="1" i="1" smtClean="0">
                          <a:latin typeface="Cambria Math" panose="02040503050406030204" pitchFamily="18" charset="0"/>
                        </a:rPr>
                        <m:t>𝒙</m:t>
                      </m:r>
                      <m:r>
                        <a:rPr lang="en-US" sz="3600" b="1" i="1" smtClean="0">
                          <a:latin typeface="Cambria Math" panose="02040503050406030204" pitchFamily="18" charset="0"/>
                        </a:rPr>
                        <m:t>(</m:t>
                      </m:r>
                      <m:r>
                        <a:rPr lang="en-US" sz="3600" b="1" i="1" smtClean="0">
                          <a:latin typeface="Cambria Math" panose="02040503050406030204" pitchFamily="18" charset="0"/>
                        </a:rPr>
                        <m:t>𝒕</m:t>
                      </m:r>
                      <m:r>
                        <a:rPr lang="en-US" sz="3600" b="1" i="1" smtClean="0">
                          <a:latin typeface="Cambria Math" panose="02040503050406030204" pitchFamily="18" charset="0"/>
                        </a:rPr>
                        <m:t>)=</m:t>
                      </m:r>
                      <m:nary>
                        <m:naryPr>
                          <m:chr m:val="∑"/>
                          <m:supHide m:val="on"/>
                          <m:ctrlPr>
                            <a:rPr lang="pt-BR" sz="3600" b="1" i="1">
                              <a:latin typeface="Cambria Math" panose="02040503050406030204" pitchFamily="18" charset="0"/>
                            </a:rPr>
                          </m:ctrlPr>
                        </m:naryPr>
                        <m:sub>
                          <m:r>
                            <a:rPr lang="en-US" sz="3600" b="1" i="1" smtClean="0">
                              <a:latin typeface="Cambria Math" panose="02040503050406030204" pitchFamily="18" charset="0"/>
                            </a:rPr>
                            <m:t>𝒌</m:t>
                          </m:r>
                          <m:r>
                            <a:rPr lang="pt-BR" sz="3600" b="1" i="1">
                              <a:latin typeface="Cambria Math" panose="02040503050406030204" pitchFamily="18" charset="0"/>
                            </a:rPr>
                            <m:t>=</m:t>
                          </m:r>
                          <m:r>
                            <a:rPr lang="pt-BR" sz="3600" b="1" i="1">
                              <a:latin typeface="Cambria Math" panose="02040503050406030204" pitchFamily="18" charset="0"/>
                            </a:rPr>
                            <m:t>𝟏</m:t>
                          </m:r>
                        </m:sub>
                        <m:sup/>
                        <m:e>
                          <m:d>
                            <m:dPr>
                              <m:ctrlPr>
                                <a:rPr lang="pt-BR" sz="3600" b="1" i="1">
                                  <a:latin typeface="Cambria Math" panose="02040503050406030204" pitchFamily="18" charset="0"/>
                                </a:rPr>
                              </m:ctrlPr>
                            </m:dPr>
                            <m:e>
                              <m:sSub>
                                <m:sSubPr>
                                  <m:ctrlPr>
                                    <a:rPr lang="pt-BR" sz="3600" b="1" i="1">
                                      <a:latin typeface="Cambria Math" panose="02040503050406030204" pitchFamily="18" charset="0"/>
                                    </a:rPr>
                                  </m:ctrlPr>
                                </m:sSubPr>
                                <m:e>
                                  <m:r>
                                    <a:rPr lang="en-US" sz="3600" b="1" i="1" smtClean="0">
                                      <a:latin typeface="Cambria Math" panose="02040503050406030204" pitchFamily="18" charset="0"/>
                                    </a:rPr>
                                    <m:t>𝑨</m:t>
                                  </m:r>
                                </m:e>
                                <m:sub>
                                  <m:r>
                                    <a:rPr lang="en-US" sz="3600" b="1" i="1" smtClean="0">
                                      <a:latin typeface="Cambria Math" panose="02040503050406030204" pitchFamily="18" charset="0"/>
                                    </a:rPr>
                                    <m:t>𝒌</m:t>
                                  </m:r>
                                </m:sub>
                              </m:sSub>
                              <m:func>
                                <m:funcPr>
                                  <m:ctrlPr>
                                    <a:rPr lang="pt-BR" sz="3600" b="1" i="1">
                                      <a:latin typeface="Cambria Math" panose="02040503050406030204" pitchFamily="18" charset="0"/>
                                    </a:rPr>
                                  </m:ctrlPr>
                                </m:funcPr>
                                <m:fName>
                                  <m:r>
                                    <a:rPr lang="pt-BR" sz="3600" b="1" i="1">
                                      <a:latin typeface="Cambria Math" panose="02040503050406030204" pitchFamily="18" charset="0"/>
                                    </a:rPr>
                                    <m:t>𝒔𝒊𝒏</m:t>
                                  </m:r>
                                </m:fName>
                                <m:e>
                                  <m:f>
                                    <m:fPr>
                                      <m:ctrlPr>
                                        <a:rPr lang="pt-BR" sz="3600" b="1" i="1">
                                          <a:latin typeface="Cambria Math" panose="02040503050406030204" pitchFamily="18" charset="0"/>
                                        </a:rPr>
                                      </m:ctrlPr>
                                    </m:fPr>
                                    <m:num>
                                      <m:r>
                                        <a:rPr lang="en-US" sz="3600" b="1" i="1" smtClean="0">
                                          <a:latin typeface="Cambria Math" panose="02040503050406030204" pitchFamily="18" charset="0"/>
                                        </a:rPr>
                                        <m:t>𝟐</m:t>
                                      </m:r>
                                      <m:r>
                                        <a:rPr lang="pt-BR" sz="3600" b="1" i="1">
                                          <a:latin typeface="Cambria Math" panose="02040503050406030204" pitchFamily="18" charset="0"/>
                                        </a:rPr>
                                        <m:t>𝝅</m:t>
                                      </m:r>
                                      <m:r>
                                        <a:rPr lang="en-US" sz="3600" b="1" i="1" smtClean="0">
                                          <a:latin typeface="Cambria Math" panose="02040503050406030204" pitchFamily="18" charset="0"/>
                                        </a:rPr>
                                        <m:t>𝒕</m:t>
                                      </m:r>
                                    </m:num>
                                    <m:den>
                                      <m:r>
                                        <a:rPr lang="en-US" sz="3600" b="1" i="1" smtClean="0">
                                          <a:latin typeface="Cambria Math" panose="02040503050406030204" pitchFamily="18" charset="0"/>
                                        </a:rPr>
                                        <m:t>𝑻</m:t>
                                      </m:r>
                                    </m:den>
                                  </m:f>
                                </m:e>
                              </m:func>
                            </m:e>
                          </m:d>
                        </m:e>
                      </m:nary>
                    </m:oMath>
                  </m:oMathPara>
                </a14:m>
                <a:endParaRPr lang="en-IN" sz="3600" b="1" dirty="0">
                  <a:latin typeface="Times New Roman" panose="02020603050405020304" pitchFamily="18" charset="0"/>
                  <a:cs typeface="Times New Roman" panose="02020603050405020304" pitchFamily="18" charset="0"/>
                </a:endParaRPr>
              </a:p>
            </p:txBody>
          </p:sp>
        </mc:Choice>
        <mc:Fallback xmlns="">
          <p:sp>
            <p:nvSpPr>
              <p:cNvPr id="12" name="Rectangle 11">
                <a:extLst>
                  <a:ext uri="{FF2B5EF4-FFF2-40B4-BE49-F238E27FC236}">
                    <a16:creationId xmlns:a16="http://schemas.microsoft.com/office/drawing/2014/main" id="{DC9FDF17-26D7-4A25-8277-856D7EF3C327}"/>
                  </a:ext>
                </a:extLst>
              </p:cNvPr>
              <p:cNvSpPr>
                <a:spLocks noRot="1" noChangeAspect="1" noMove="1" noResize="1" noEditPoints="1" noAdjustHandles="1" noChangeArrowheads="1" noChangeShapeType="1" noTextEdit="1"/>
              </p:cNvSpPr>
              <p:nvPr/>
            </p:nvSpPr>
            <p:spPr>
              <a:xfrm>
                <a:off x="457200" y="4035484"/>
                <a:ext cx="17221200" cy="1471365"/>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876988427"/>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4CFE-327D-AE13-4B3C-48F5C299C9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07EE-BD63-E8FB-916F-EB9628858D6B}"/>
              </a:ext>
            </a:extLst>
          </p:cNvPr>
          <p:cNvSpPr/>
          <p:nvPr/>
        </p:nvSpPr>
        <p:spPr>
          <a:xfrm>
            <a:off x="457200" y="266700"/>
            <a:ext cx="2514600" cy="2952929"/>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A584E38-E039-1A2B-5A26-A4E5CAB7D905}"/>
              </a:ext>
            </a:extLst>
          </p:cNvPr>
          <p:cNvSpPr/>
          <p:nvPr/>
        </p:nvSpPr>
        <p:spPr>
          <a:xfrm flipH="1" flipV="1">
            <a:off x="15011400" y="7200900"/>
            <a:ext cx="2895600" cy="28194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70943714-4A23-19AC-0987-FD5DF6065728}"/>
              </a:ext>
            </a:extLst>
          </p:cNvPr>
          <p:cNvSpPr/>
          <p:nvPr/>
        </p:nvSpPr>
        <p:spPr>
          <a:xfrm>
            <a:off x="1214198" y="8953500"/>
            <a:ext cx="1757602" cy="75745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C37D669-475D-BBB7-CCDB-185D06A5F728}"/>
              </a:ext>
            </a:extLst>
          </p:cNvPr>
          <p:cNvSpPr/>
          <p:nvPr/>
        </p:nvSpPr>
        <p:spPr>
          <a:xfrm flipH="1">
            <a:off x="15619542" y="266700"/>
            <a:ext cx="1910002" cy="838200"/>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Arrow: Chevron 2">
            <a:extLst>
              <a:ext uri="{FF2B5EF4-FFF2-40B4-BE49-F238E27FC236}">
                <a16:creationId xmlns:a16="http://schemas.microsoft.com/office/drawing/2014/main" id="{F22D82C3-943E-4400-BFC2-F57EB83955CB}"/>
              </a:ext>
            </a:extLst>
          </p:cNvPr>
          <p:cNvSpPr/>
          <p:nvPr/>
        </p:nvSpPr>
        <p:spPr>
          <a:xfrm>
            <a:off x="1524000" y="2781300"/>
            <a:ext cx="7620000" cy="1905000"/>
          </a:xfrm>
          <a:prstGeom prst="chevron">
            <a:avLst/>
          </a:prstGeom>
          <a:solidFill>
            <a:schemeClr val="bg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Times New Roman" panose="02020603050405020304" pitchFamily="18" charset="0"/>
                <a:cs typeface="Times New Roman" panose="02020603050405020304" pitchFamily="18" charset="0"/>
              </a:rPr>
              <a:t>Audio Signal Visualization</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15C35B-96C9-44C5-A7EB-9554E124F7DA}"/>
              </a:ext>
            </a:extLst>
          </p:cNvPr>
          <p:cNvSpPr txBox="1"/>
          <p:nvPr/>
        </p:nvSpPr>
        <p:spPr>
          <a:xfrm>
            <a:off x="1714500" y="5600700"/>
            <a:ext cx="10668000" cy="1754326"/>
          </a:xfrm>
          <a:prstGeom prst="rect">
            <a:avLst/>
          </a:prstGeom>
          <a:noFill/>
        </p:spPr>
        <p:txBody>
          <a:bodyPr wrap="square" rtlCol="0">
            <a:spAutoFit/>
          </a:bodyPr>
          <a:lstStyle/>
          <a:p>
            <a:pPr marL="342900" indent="-342900">
              <a:buAutoNum type="arabicParenR"/>
            </a:pPr>
            <a:r>
              <a:rPr lang="en-US" sz="3600" b="1" dirty="0">
                <a:solidFill>
                  <a:schemeClr val="accent1"/>
                </a:solidFill>
                <a:latin typeface="Times New Roman" panose="02020603050405020304" pitchFamily="18" charset="0"/>
                <a:cs typeface="Times New Roman" panose="02020603050405020304" pitchFamily="18" charset="0"/>
              </a:rPr>
              <a:t>Filtered Frequency &amp; Amplitudes Are Transformed </a:t>
            </a:r>
          </a:p>
          <a:p>
            <a:pPr marL="342900" indent="-342900">
              <a:buAutoNum type="arabicParenR"/>
            </a:pPr>
            <a:r>
              <a:rPr lang="en-US" sz="3600" b="1" dirty="0">
                <a:solidFill>
                  <a:schemeClr val="accent1"/>
                </a:solidFill>
                <a:latin typeface="Times New Roman" panose="02020603050405020304" pitchFamily="18" charset="0"/>
                <a:cs typeface="Times New Roman" panose="02020603050405020304" pitchFamily="18" charset="0"/>
              </a:rPr>
              <a:t>Changes Into Time Domain</a:t>
            </a:r>
          </a:p>
          <a:p>
            <a:pPr marL="342900" indent="-342900">
              <a:buAutoNum type="arabicParenR"/>
            </a:pPr>
            <a:r>
              <a:rPr lang="en-US" sz="3600" b="1" dirty="0">
                <a:solidFill>
                  <a:schemeClr val="accent1"/>
                </a:solidFill>
                <a:latin typeface="Times New Roman" panose="02020603050405020304" pitchFamily="18" charset="0"/>
                <a:cs typeface="Times New Roman" panose="02020603050405020304" pitchFamily="18" charset="0"/>
              </a:rPr>
              <a:t>Sliding Window Approach Employed</a:t>
            </a:r>
            <a:endParaRPr lang="en-IN" sz="36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9181340"/>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24CFE-327D-AE13-4B3C-48F5C299C9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07EE-BD63-E8FB-916F-EB9628858D6B}"/>
              </a:ext>
            </a:extLst>
          </p:cNvPr>
          <p:cNvSpPr/>
          <p:nvPr/>
        </p:nvSpPr>
        <p:spPr>
          <a:xfrm>
            <a:off x="457200" y="2667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A584E38-E039-1A2B-5A26-A4E5CAB7D905}"/>
              </a:ext>
            </a:extLst>
          </p:cNvPr>
          <p:cNvSpPr/>
          <p:nvPr/>
        </p:nvSpPr>
        <p:spPr>
          <a:xfrm flipH="1" flipV="1">
            <a:off x="13792200" y="59055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70943714-4A23-19AC-0987-FD5DF6065728}"/>
              </a:ext>
            </a:extLst>
          </p:cNvPr>
          <p:cNvSpPr/>
          <p:nvPr/>
        </p:nvSpPr>
        <p:spPr>
          <a:xfrm>
            <a:off x="1442798" y="8724900"/>
            <a:ext cx="2143604" cy="98605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C37D669-475D-BBB7-CCDB-185D06A5F728}"/>
              </a:ext>
            </a:extLst>
          </p:cNvPr>
          <p:cNvSpPr/>
          <p:nvPr/>
        </p:nvSpPr>
        <p:spPr>
          <a:xfrm flipH="1">
            <a:off x="14777798" y="495300"/>
            <a:ext cx="2143604" cy="986058"/>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lowchart: Punched Tape 4">
            <a:extLst>
              <a:ext uri="{FF2B5EF4-FFF2-40B4-BE49-F238E27FC236}">
                <a16:creationId xmlns:a16="http://schemas.microsoft.com/office/drawing/2014/main" id="{C331BBC1-50C7-4843-A0A6-6DD01BD27886}"/>
              </a:ext>
            </a:extLst>
          </p:cNvPr>
          <p:cNvSpPr/>
          <p:nvPr/>
        </p:nvSpPr>
        <p:spPr>
          <a:xfrm>
            <a:off x="4572000" y="2171700"/>
            <a:ext cx="8839200" cy="2743200"/>
          </a:xfrm>
          <a:prstGeom prst="flowChartPunchedTap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3">
                    <a:lumMod val="60000"/>
                    <a:lumOff val="40000"/>
                  </a:schemeClr>
                </a:solidFill>
                <a:latin typeface="Times New Roman" panose="02020603050405020304" pitchFamily="18" charset="0"/>
                <a:cs typeface="Times New Roman" panose="02020603050405020304" pitchFamily="18" charset="0"/>
              </a:rPr>
              <a:t>Pressure To Note Mapping For Sound Generation</a:t>
            </a:r>
            <a:endParaRPr lang="en-IN" sz="3200" b="1" dirty="0">
              <a:solidFill>
                <a:schemeClr val="accent3">
                  <a:lumMod val="60000"/>
                  <a:lumOff val="40000"/>
                </a:schemeClr>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A98426E-864A-4EAB-AF9B-30CA6DFBAF1B}"/>
              </a:ext>
            </a:extLst>
          </p:cNvPr>
          <p:cNvSpPr txBox="1"/>
          <p:nvPr/>
        </p:nvSpPr>
        <p:spPr>
          <a:xfrm>
            <a:off x="3276600" y="5605938"/>
            <a:ext cx="8991600" cy="1200329"/>
          </a:xfrm>
          <a:prstGeom prst="rect">
            <a:avLst/>
          </a:prstGeom>
          <a:noFill/>
        </p:spPr>
        <p:txBody>
          <a:bodyPr wrap="square" rtlCol="0">
            <a:spAutoFit/>
          </a:bodyPr>
          <a:lstStyle/>
          <a:p>
            <a:pPr marL="342900" indent="-342900">
              <a:buAutoNum type="arabicParenR"/>
            </a:pPr>
            <a:r>
              <a:rPr lang="en-US" sz="3600" b="1" dirty="0">
                <a:solidFill>
                  <a:srgbClr val="0070C0"/>
                </a:solidFill>
                <a:latin typeface="Times New Roman" panose="02020603050405020304" pitchFamily="18" charset="0"/>
                <a:cs typeface="Times New Roman" panose="02020603050405020304" pitchFamily="18" charset="0"/>
              </a:rPr>
              <a:t>SARGAM Based System</a:t>
            </a:r>
          </a:p>
          <a:p>
            <a:pPr marL="342900" indent="-342900">
              <a:buAutoNum type="arabicParenR"/>
            </a:pPr>
            <a:r>
              <a:rPr lang="en-US" sz="3600" b="1" dirty="0">
                <a:solidFill>
                  <a:srgbClr val="0070C0"/>
                </a:solidFill>
                <a:latin typeface="Times New Roman" panose="02020603050405020304" pitchFamily="18" charset="0"/>
                <a:cs typeface="Times New Roman" panose="02020603050405020304" pitchFamily="18" charset="0"/>
              </a:rPr>
              <a:t>Providing Real Time Feedback System</a:t>
            </a:r>
            <a:endParaRPr lang="en-IN" sz="36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684754"/>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5F957-9613-CAAF-DA77-A6B7FD4B584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6676A4A-2D8D-8B4B-5C0A-1677F2096DDB}"/>
              </a:ext>
            </a:extLst>
          </p:cNvPr>
          <p:cNvSpPr/>
          <p:nvPr/>
        </p:nvSpPr>
        <p:spPr>
          <a:xfrm>
            <a:off x="381001" y="266701"/>
            <a:ext cx="1905000" cy="1981200"/>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E120AEA8-14CD-4CA6-FEAE-C20EE1BA8C80}"/>
              </a:ext>
            </a:extLst>
          </p:cNvPr>
          <p:cNvSpPr/>
          <p:nvPr/>
        </p:nvSpPr>
        <p:spPr>
          <a:xfrm flipH="1" flipV="1">
            <a:off x="15368154" y="7936645"/>
            <a:ext cx="2516102" cy="1981202"/>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D8DA5C41-0BCD-20D8-F897-15E9303E8E88}"/>
              </a:ext>
            </a:extLst>
          </p:cNvPr>
          <p:cNvSpPr/>
          <p:nvPr/>
        </p:nvSpPr>
        <p:spPr>
          <a:xfrm flipH="1">
            <a:off x="16154399" y="305549"/>
            <a:ext cx="1751848" cy="1981200"/>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09F64974-56C9-EC09-A849-CF0494751AE0}"/>
              </a:ext>
            </a:extLst>
          </p:cNvPr>
          <p:cNvSpPr/>
          <p:nvPr/>
        </p:nvSpPr>
        <p:spPr>
          <a:xfrm flipV="1">
            <a:off x="417599" y="7936647"/>
            <a:ext cx="2173201" cy="1981201"/>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4" name="Picture 3">
            <a:extLst>
              <a:ext uri="{FF2B5EF4-FFF2-40B4-BE49-F238E27FC236}">
                <a16:creationId xmlns:a16="http://schemas.microsoft.com/office/drawing/2014/main" id="{34DBE0B4-FBBF-2D03-16B8-F0B84707D9BD}"/>
              </a:ext>
            </a:extLst>
          </p:cNvPr>
          <p:cNvPicPr>
            <a:picLocks noChangeAspect="1"/>
          </p:cNvPicPr>
          <p:nvPr/>
        </p:nvPicPr>
        <p:blipFill>
          <a:blip r:embed="rId4">
            <a:extLst>
              <a:ext uri="{28A0092B-C50C-407E-A947-70E740481C1C}">
                <a14:useLocalDpi xmlns:a14="http://schemas.microsoft.com/office/drawing/2010/main" val="0"/>
              </a:ext>
            </a:extLst>
          </a:blip>
          <a:srcRect t="39630"/>
          <a:stretch>
            <a:fillRect/>
          </a:stretch>
        </p:blipFill>
        <p:spPr>
          <a:xfrm>
            <a:off x="4191000" y="1212480"/>
            <a:ext cx="10287000" cy="8192311"/>
          </a:xfrm>
          <a:prstGeom prst="rect">
            <a:avLst/>
          </a:prstGeom>
        </p:spPr>
      </p:pic>
      <p:sp>
        <p:nvSpPr>
          <p:cNvPr id="6" name="TextBox 5">
            <a:extLst>
              <a:ext uri="{FF2B5EF4-FFF2-40B4-BE49-F238E27FC236}">
                <a16:creationId xmlns:a16="http://schemas.microsoft.com/office/drawing/2014/main" id="{5A509177-1233-08BB-C28C-B515A5C765D9}"/>
              </a:ext>
            </a:extLst>
          </p:cNvPr>
          <p:cNvSpPr txBox="1"/>
          <p:nvPr/>
        </p:nvSpPr>
        <p:spPr>
          <a:xfrm>
            <a:off x="6818042" y="76907"/>
            <a:ext cx="5297758" cy="923330"/>
          </a:xfrm>
          <a:prstGeom prst="rect">
            <a:avLst/>
          </a:prstGeom>
          <a:noFill/>
        </p:spPr>
        <p:txBody>
          <a:bodyPr wrap="square" rtlCol="0">
            <a:spAutoFit/>
          </a:bodyPr>
          <a:lstStyle/>
          <a:p>
            <a:r>
              <a:rPr lang="en-US" sz="5400" b="1" u="sng" dirty="0">
                <a:solidFill>
                  <a:schemeClr val="accent1"/>
                </a:solidFill>
                <a:latin typeface="Times New Roman" panose="02020603050405020304" pitchFamily="18" charset="0"/>
                <a:cs typeface="Times New Roman" panose="02020603050405020304" pitchFamily="18" charset="0"/>
              </a:rPr>
              <a:t>Output Analysis:</a:t>
            </a:r>
          </a:p>
        </p:txBody>
      </p:sp>
    </p:spTree>
    <p:extLst>
      <p:ext uri="{BB962C8B-B14F-4D97-AF65-F5344CB8AC3E}">
        <p14:creationId xmlns:p14="http://schemas.microsoft.com/office/powerpoint/2010/main" val="636014885"/>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27850-D471-6E37-2578-9C9258A28AE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BCE1D1-8D73-26AA-587C-FA85EDF20079}"/>
              </a:ext>
            </a:extLst>
          </p:cNvPr>
          <p:cNvSpPr/>
          <p:nvPr/>
        </p:nvSpPr>
        <p:spPr>
          <a:xfrm>
            <a:off x="381001" y="266701"/>
            <a:ext cx="1905000" cy="1981200"/>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43F1B6FC-FC72-3491-8F35-E8C2642D612B}"/>
              </a:ext>
            </a:extLst>
          </p:cNvPr>
          <p:cNvSpPr/>
          <p:nvPr/>
        </p:nvSpPr>
        <p:spPr>
          <a:xfrm flipH="1" flipV="1">
            <a:off x="15368154" y="7936645"/>
            <a:ext cx="2516102" cy="1981202"/>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CC9D3977-BEA7-B82F-B5B8-98F4296F6CFB}"/>
              </a:ext>
            </a:extLst>
          </p:cNvPr>
          <p:cNvSpPr/>
          <p:nvPr/>
        </p:nvSpPr>
        <p:spPr>
          <a:xfrm flipH="1">
            <a:off x="16154399" y="305549"/>
            <a:ext cx="1751848" cy="1981200"/>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CA8FBCB5-D155-8C53-C667-F947AA9799FB}"/>
              </a:ext>
            </a:extLst>
          </p:cNvPr>
          <p:cNvSpPr/>
          <p:nvPr/>
        </p:nvSpPr>
        <p:spPr>
          <a:xfrm flipV="1">
            <a:off x="417599" y="7936647"/>
            <a:ext cx="2173201" cy="1981201"/>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4">
            <a:extLst>
              <a:ext uri="{FF2B5EF4-FFF2-40B4-BE49-F238E27FC236}">
                <a16:creationId xmlns:a16="http://schemas.microsoft.com/office/drawing/2014/main" id="{511D13D7-BE54-4473-F250-89FD1307BC8B}"/>
              </a:ext>
            </a:extLst>
          </p:cNvPr>
          <p:cNvSpPr txBox="1"/>
          <p:nvPr/>
        </p:nvSpPr>
        <p:spPr>
          <a:xfrm>
            <a:off x="990600" y="795636"/>
            <a:ext cx="4340034" cy="923330"/>
          </a:xfrm>
          <a:prstGeom prst="rect">
            <a:avLst/>
          </a:prstGeom>
          <a:noFill/>
        </p:spPr>
        <p:txBody>
          <a:bodyPr wrap="none" rtlCol="0">
            <a:spAutoFit/>
          </a:bodyPr>
          <a:lstStyle/>
          <a:p>
            <a:r>
              <a:rPr lang="en-US" sz="5400" b="1" dirty="0"/>
              <a:t>MATLAB GUI : </a:t>
            </a:r>
            <a:endParaRPr lang="en-US" sz="5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FAD1066-F2D7-BBA5-7643-CF03CAAC22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000" y="1550412"/>
            <a:ext cx="10972800" cy="7186176"/>
          </a:xfrm>
          <a:prstGeom prst="rect">
            <a:avLst/>
          </a:prstGeom>
        </p:spPr>
      </p:pic>
      <p:sp>
        <p:nvSpPr>
          <p:cNvPr id="3" name="TextBox 2">
            <a:extLst>
              <a:ext uri="{FF2B5EF4-FFF2-40B4-BE49-F238E27FC236}">
                <a16:creationId xmlns:a16="http://schemas.microsoft.com/office/drawing/2014/main" id="{E4F34305-A55E-4FE1-ADB8-39CC0B682F3D}"/>
              </a:ext>
            </a:extLst>
          </p:cNvPr>
          <p:cNvSpPr txBox="1"/>
          <p:nvPr/>
        </p:nvSpPr>
        <p:spPr>
          <a:xfrm>
            <a:off x="609600" y="2705100"/>
            <a:ext cx="5867400" cy="1569660"/>
          </a:xfrm>
          <a:prstGeom prst="rect">
            <a:avLst/>
          </a:prstGeom>
          <a:noFill/>
        </p:spPr>
        <p:txBody>
          <a:bodyPr wrap="square" rtlCol="0">
            <a:spAutoFit/>
          </a:bodyPr>
          <a:lstStyle/>
          <a:p>
            <a:r>
              <a:rPr lang="en-US" sz="2400" b="1" dirty="0">
                <a:solidFill>
                  <a:srgbClr val="00B050"/>
                </a:solidFill>
                <a:latin typeface="Times New Roman" panose="02020603050405020304" pitchFamily="18" charset="0"/>
                <a:cs typeface="Times New Roman" panose="02020603050405020304" pitchFamily="18" charset="0"/>
              </a:rPr>
              <a:t>1)P,R,C &amp; Base Frequency As Input</a:t>
            </a:r>
          </a:p>
          <a:p>
            <a:r>
              <a:rPr lang="en-US" sz="2400" b="1" dirty="0">
                <a:solidFill>
                  <a:srgbClr val="00B050"/>
                </a:solidFill>
                <a:latin typeface="Times New Roman" panose="02020603050405020304" pitchFamily="18" charset="0"/>
                <a:cs typeface="Times New Roman" panose="02020603050405020304" pitchFamily="18" charset="0"/>
              </a:rPr>
              <a:t>2)User Can Set Note Duration &amp; Volume</a:t>
            </a:r>
          </a:p>
          <a:p>
            <a:r>
              <a:rPr lang="en-US" sz="2400" b="1" dirty="0">
                <a:solidFill>
                  <a:srgbClr val="00B050"/>
                </a:solidFill>
                <a:latin typeface="Times New Roman" panose="02020603050405020304" pitchFamily="18" charset="0"/>
                <a:cs typeface="Times New Roman" panose="02020603050405020304" pitchFamily="18" charset="0"/>
              </a:rPr>
              <a:t>3)Shows Fourier, Audio, Graph</a:t>
            </a:r>
          </a:p>
          <a:p>
            <a:r>
              <a:rPr lang="en-US" sz="2400" b="1" dirty="0">
                <a:solidFill>
                  <a:srgbClr val="00B050"/>
                </a:solidFill>
                <a:latin typeface="Times New Roman" panose="02020603050405020304" pitchFamily="18" charset="0"/>
                <a:cs typeface="Times New Roman" panose="02020603050405020304" pitchFamily="18" charset="0"/>
              </a:rPr>
              <a:t>4)Music By Pressure Note &amp; Keyboard</a:t>
            </a:r>
            <a:endParaRPr lang="en-IN" sz="24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8047825"/>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33632-1298-65E7-18C6-ED71140F04E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0793511-A729-1150-1242-596492D68255}"/>
              </a:ext>
            </a:extLst>
          </p:cNvPr>
          <p:cNvSpPr/>
          <p:nvPr/>
        </p:nvSpPr>
        <p:spPr>
          <a:xfrm>
            <a:off x="381001" y="266701"/>
            <a:ext cx="1905000" cy="1981200"/>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79083F42-2E8E-2539-95C3-AAD03E7A63DD}"/>
              </a:ext>
            </a:extLst>
          </p:cNvPr>
          <p:cNvSpPr/>
          <p:nvPr/>
        </p:nvSpPr>
        <p:spPr>
          <a:xfrm flipH="1" flipV="1">
            <a:off x="15368154" y="7936645"/>
            <a:ext cx="2516102" cy="1981202"/>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1B661199-25D8-8121-0BAE-BE564B9E3D84}"/>
              </a:ext>
            </a:extLst>
          </p:cNvPr>
          <p:cNvSpPr/>
          <p:nvPr/>
        </p:nvSpPr>
        <p:spPr>
          <a:xfrm flipH="1">
            <a:off x="16154399" y="305549"/>
            <a:ext cx="1751848" cy="1981200"/>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6FF937B0-1B62-E083-F047-550AB02DB857}"/>
              </a:ext>
            </a:extLst>
          </p:cNvPr>
          <p:cNvSpPr/>
          <p:nvPr/>
        </p:nvSpPr>
        <p:spPr>
          <a:xfrm flipV="1">
            <a:off x="417599" y="7936647"/>
            <a:ext cx="2173201" cy="1981201"/>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7648900B-FF12-ED14-75E9-01CC27A3682D}"/>
              </a:ext>
            </a:extLst>
          </p:cNvPr>
          <p:cNvSpPr txBox="1"/>
          <p:nvPr/>
        </p:nvSpPr>
        <p:spPr>
          <a:xfrm>
            <a:off x="1143000" y="872580"/>
            <a:ext cx="11783226" cy="1692771"/>
          </a:xfrm>
          <a:prstGeom prst="rect">
            <a:avLst/>
          </a:prstGeom>
          <a:noFill/>
        </p:spPr>
        <p:txBody>
          <a:bodyPr wrap="none" rtlCol="0">
            <a:spAutoFit/>
          </a:bodyPr>
          <a:lstStyle/>
          <a:p>
            <a:r>
              <a:rPr lang="en-US" sz="5200" b="1" dirty="0">
                <a:solidFill>
                  <a:srgbClr val="0070C0"/>
                </a:solidFill>
              </a:rPr>
              <a:t>Fourier Synthesis and Signal Construction:</a:t>
            </a:r>
          </a:p>
          <a:p>
            <a:endParaRPr lang="en-US" sz="5200" b="1" dirty="0">
              <a:solidFill>
                <a:srgbClr val="0070C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C0B287-B374-6B7E-DCB5-C8DE825963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09428" y="2484693"/>
            <a:ext cx="12069143" cy="6442553"/>
          </a:xfrm>
          <a:prstGeom prst="rect">
            <a:avLst/>
          </a:prstGeom>
        </p:spPr>
      </p:pic>
    </p:spTree>
    <p:extLst>
      <p:ext uri="{BB962C8B-B14F-4D97-AF65-F5344CB8AC3E}">
        <p14:creationId xmlns:p14="http://schemas.microsoft.com/office/powerpoint/2010/main" val="516412458"/>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1001" y="266701"/>
            <a:ext cx="1905000" cy="1981200"/>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flipH="1" flipV="1">
            <a:off x="15368154" y="7936645"/>
            <a:ext cx="2516102" cy="1981202"/>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flipH="1">
            <a:off x="16154399" y="305549"/>
            <a:ext cx="1751848" cy="1981200"/>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V="1">
            <a:off x="417599" y="7936647"/>
            <a:ext cx="2173201" cy="1981201"/>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TextBox 10">
            <a:extLst>
              <a:ext uri="{FF2B5EF4-FFF2-40B4-BE49-F238E27FC236}">
                <a16:creationId xmlns:a16="http://schemas.microsoft.com/office/drawing/2014/main" id="{959739A3-C492-4E78-CC41-705582732B28}"/>
              </a:ext>
            </a:extLst>
          </p:cNvPr>
          <p:cNvSpPr txBox="1"/>
          <p:nvPr/>
        </p:nvSpPr>
        <p:spPr>
          <a:xfrm>
            <a:off x="1333501" y="795636"/>
            <a:ext cx="12362743" cy="923330"/>
          </a:xfrm>
          <a:prstGeom prst="rect">
            <a:avLst/>
          </a:prstGeom>
          <a:noFill/>
        </p:spPr>
        <p:txBody>
          <a:bodyPr wrap="none" rtlCol="0">
            <a:spAutoFit/>
          </a:bodyPr>
          <a:lstStyle/>
          <a:p>
            <a:r>
              <a:rPr lang="en-US" sz="5200" b="1" dirty="0"/>
              <a:t>Audio Signal Generation and Visualization: </a:t>
            </a:r>
            <a:endParaRPr lang="en-US" sz="52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C63F169F-F527-0970-34DB-9FAE3BCF70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3955" y="1602756"/>
            <a:ext cx="13650316" cy="5844041"/>
          </a:xfrm>
          <a:prstGeom prst="rect">
            <a:avLst/>
          </a:prstGeom>
        </p:spPr>
      </p:pic>
      <p:sp>
        <p:nvSpPr>
          <p:cNvPr id="3" name="TextBox 2">
            <a:extLst>
              <a:ext uri="{FF2B5EF4-FFF2-40B4-BE49-F238E27FC236}">
                <a16:creationId xmlns:a16="http://schemas.microsoft.com/office/drawing/2014/main" id="{D84D533C-3820-4A78-9B45-43963B621664}"/>
              </a:ext>
            </a:extLst>
          </p:cNvPr>
          <p:cNvSpPr txBox="1"/>
          <p:nvPr/>
        </p:nvSpPr>
        <p:spPr>
          <a:xfrm>
            <a:off x="1981200" y="7622472"/>
            <a:ext cx="10221315" cy="1077218"/>
          </a:xfrm>
          <a:prstGeom prst="rect">
            <a:avLst/>
          </a:prstGeom>
          <a:noFill/>
        </p:spPr>
        <p:txBody>
          <a:bodyPr wrap="square" rtlCol="0">
            <a:spAutoFit/>
          </a:bodyPr>
          <a:lstStyle/>
          <a:p>
            <a:r>
              <a:rPr lang="en-US" sz="3200" b="1" dirty="0">
                <a:solidFill>
                  <a:schemeClr val="accent5">
                    <a:lumMod val="50000"/>
                  </a:schemeClr>
                </a:solidFill>
              </a:rPr>
              <a:t>1)Creates Moving Audio Signal</a:t>
            </a:r>
          </a:p>
          <a:p>
            <a:r>
              <a:rPr lang="en-US" sz="3200" b="1" dirty="0">
                <a:solidFill>
                  <a:schemeClr val="accent5">
                    <a:lumMod val="50000"/>
                  </a:schemeClr>
                </a:solidFill>
              </a:rPr>
              <a:t>2)Sliding Window Approach</a:t>
            </a:r>
            <a:endParaRPr lang="en-IN" sz="3200" b="1" dirty="0">
              <a:solidFill>
                <a:schemeClr val="accent5">
                  <a:lumMod val="50000"/>
                </a:schemeClr>
              </a:solidFill>
            </a:endParaRPr>
          </a:p>
        </p:txBody>
      </p:sp>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7E2F5-81FC-30A4-DFD3-4B1147395E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8C28F00-B013-CFDC-E0D7-D294FB592633}"/>
              </a:ext>
            </a:extLst>
          </p:cNvPr>
          <p:cNvSpPr/>
          <p:nvPr/>
        </p:nvSpPr>
        <p:spPr>
          <a:xfrm>
            <a:off x="381001" y="266701"/>
            <a:ext cx="1905000" cy="1981200"/>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8BD9C61B-F6C7-A3D2-1EDF-2743BE86F58E}"/>
              </a:ext>
            </a:extLst>
          </p:cNvPr>
          <p:cNvSpPr/>
          <p:nvPr/>
        </p:nvSpPr>
        <p:spPr>
          <a:xfrm flipH="1" flipV="1">
            <a:off x="15368154" y="7936645"/>
            <a:ext cx="2516102" cy="1981202"/>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C6B4FFE2-0292-F499-618C-11862E1EA87E}"/>
              </a:ext>
            </a:extLst>
          </p:cNvPr>
          <p:cNvSpPr/>
          <p:nvPr/>
        </p:nvSpPr>
        <p:spPr>
          <a:xfrm flipH="1">
            <a:off x="16154399" y="305549"/>
            <a:ext cx="1751848" cy="1981200"/>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490B3F69-E0B4-3E41-08EC-8AF0E88AC932}"/>
              </a:ext>
            </a:extLst>
          </p:cNvPr>
          <p:cNvSpPr/>
          <p:nvPr/>
        </p:nvSpPr>
        <p:spPr>
          <a:xfrm flipV="1">
            <a:off x="417599" y="7936647"/>
            <a:ext cx="2173201" cy="1981201"/>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2D2FD6B2-090D-AC0B-58FC-D75F47706549}"/>
              </a:ext>
            </a:extLst>
          </p:cNvPr>
          <p:cNvSpPr txBox="1"/>
          <p:nvPr/>
        </p:nvSpPr>
        <p:spPr>
          <a:xfrm>
            <a:off x="1066800" y="723900"/>
            <a:ext cx="8779006" cy="923330"/>
          </a:xfrm>
          <a:prstGeom prst="rect">
            <a:avLst/>
          </a:prstGeom>
          <a:noFill/>
        </p:spPr>
        <p:txBody>
          <a:bodyPr wrap="none" rtlCol="0">
            <a:spAutoFit/>
          </a:bodyPr>
          <a:lstStyle/>
          <a:p>
            <a:r>
              <a:rPr lang="en-US" sz="5400" b="1" dirty="0"/>
              <a:t>Frequency Spectrum Analysis</a:t>
            </a:r>
            <a:r>
              <a:rPr lang="en-US" sz="5400" dirty="0"/>
              <a:t>:</a:t>
            </a:r>
            <a:endParaRPr lang="en-US" sz="5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457A6C-0055-599D-C305-1E6014A3FC0D}"/>
              </a:ext>
            </a:extLst>
          </p:cNvPr>
          <p:cNvPicPr>
            <a:picLocks noChangeAspect="1"/>
          </p:cNvPicPr>
          <p:nvPr/>
        </p:nvPicPr>
        <p:blipFill>
          <a:blip r:embed="rId4">
            <a:extLst>
              <a:ext uri="{28A0092B-C50C-407E-A947-70E740481C1C}">
                <a14:useLocalDpi xmlns:a14="http://schemas.microsoft.com/office/drawing/2010/main" val="0"/>
              </a:ext>
            </a:extLst>
          </a:blip>
          <a:srcRect r="62105"/>
          <a:stretch>
            <a:fillRect/>
          </a:stretch>
        </p:blipFill>
        <p:spPr>
          <a:xfrm>
            <a:off x="7456583" y="1967449"/>
            <a:ext cx="8975842" cy="6864173"/>
          </a:xfrm>
          <a:prstGeom prst="rect">
            <a:avLst/>
          </a:prstGeom>
        </p:spPr>
      </p:pic>
      <p:graphicFrame>
        <p:nvGraphicFramePr>
          <p:cNvPr id="4" name="Diagram 3">
            <a:extLst>
              <a:ext uri="{FF2B5EF4-FFF2-40B4-BE49-F238E27FC236}">
                <a16:creationId xmlns:a16="http://schemas.microsoft.com/office/drawing/2014/main" id="{29E6B756-0BC1-4362-B147-4BE3BD808164}"/>
              </a:ext>
            </a:extLst>
          </p:cNvPr>
          <p:cNvGraphicFramePr/>
          <p:nvPr>
            <p:extLst>
              <p:ext uri="{D42A27DB-BD31-4B8C-83A1-F6EECF244321}">
                <p14:modId xmlns:p14="http://schemas.microsoft.com/office/powerpoint/2010/main" val="952956358"/>
              </p:ext>
            </p:extLst>
          </p:nvPr>
        </p:nvGraphicFramePr>
        <p:xfrm>
          <a:off x="685800" y="1079500"/>
          <a:ext cx="6465984" cy="65786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21772372"/>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788C5-44A0-C37F-C0C2-BFE2C1F6D4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37BEE32-A40C-6E26-F9F6-FF521F2FE6E1}"/>
              </a:ext>
            </a:extLst>
          </p:cNvPr>
          <p:cNvSpPr/>
          <p:nvPr/>
        </p:nvSpPr>
        <p:spPr>
          <a:xfrm>
            <a:off x="381001" y="266701"/>
            <a:ext cx="1905000" cy="1981200"/>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B81C6D5C-E8DB-9FA7-4225-69620AF94435}"/>
              </a:ext>
            </a:extLst>
          </p:cNvPr>
          <p:cNvSpPr/>
          <p:nvPr/>
        </p:nvSpPr>
        <p:spPr>
          <a:xfrm flipH="1" flipV="1">
            <a:off x="15368154" y="7936645"/>
            <a:ext cx="2516102" cy="1981202"/>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4331143F-00ED-A8BC-D1AB-8C2483BEBE7B}"/>
              </a:ext>
            </a:extLst>
          </p:cNvPr>
          <p:cNvSpPr/>
          <p:nvPr/>
        </p:nvSpPr>
        <p:spPr>
          <a:xfrm flipH="1">
            <a:off x="16154399" y="305549"/>
            <a:ext cx="1751848" cy="1981200"/>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89CD1F24-3442-DB82-0F44-F87456253394}"/>
              </a:ext>
            </a:extLst>
          </p:cNvPr>
          <p:cNvSpPr/>
          <p:nvPr/>
        </p:nvSpPr>
        <p:spPr>
          <a:xfrm flipV="1">
            <a:off x="417599" y="7936647"/>
            <a:ext cx="2173201" cy="1981201"/>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4" name="Picture 3">
            <a:extLst>
              <a:ext uri="{FF2B5EF4-FFF2-40B4-BE49-F238E27FC236}">
                <a16:creationId xmlns:a16="http://schemas.microsoft.com/office/drawing/2014/main" id="{E1DCE0C2-BA0E-8AEB-6553-58EE282D9D53}"/>
              </a:ext>
            </a:extLst>
          </p:cNvPr>
          <p:cNvPicPr>
            <a:picLocks noChangeAspect="1"/>
          </p:cNvPicPr>
          <p:nvPr/>
        </p:nvPicPr>
        <p:blipFill>
          <a:blip r:embed="rId4">
            <a:extLst>
              <a:ext uri="{28A0092B-C50C-407E-A947-70E740481C1C}">
                <a14:useLocalDpi xmlns:a14="http://schemas.microsoft.com/office/drawing/2010/main" val="0"/>
              </a:ext>
            </a:extLst>
          </a:blip>
          <a:srcRect l="35319" r="35319"/>
          <a:stretch>
            <a:fillRect/>
          </a:stretch>
        </p:blipFill>
        <p:spPr>
          <a:xfrm>
            <a:off x="8915400" y="2247901"/>
            <a:ext cx="7086600" cy="7211972"/>
          </a:xfrm>
          <a:prstGeom prst="rect">
            <a:avLst/>
          </a:prstGeom>
        </p:spPr>
      </p:pic>
      <p:sp>
        <p:nvSpPr>
          <p:cNvPr id="5" name="TextBox 4">
            <a:extLst>
              <a:ext uri="{FF2B5EF4-FFF2-40B4-BE49-F238E27FC236}">
                <a16:creationId xmlns:a16="http://schemas.microsoft.com/office/drawing/2014/main" id="{75A0A932-01D9-A3D7-A859-D8B229AA53A2}"/>
              </a:ext>
            </a:extLst>
          </p:cNvPr>
          <p:cNvSpPr txBox="1"/>
          <p:nvPr/>
        </p:nvSpPr>
        <p:spPr>
          <a:xfrm>
            <a:off x="1752600" y="1104900"/>
            <a:ext cx="8611012" cy="923330"/>
          </a:xfrm>
          <a:prstGeom prst="rect">
            <a:avLst/>
          </a:prstGeom>
          <a:noFill/>
        </p:spPr>
        <p:txBody>
          <a:bodyPr wrap="none" rtlCol="0">
            <a:spAutoFit/>
          </a:bodyPr>
          <a:lstStyle/>
          <a:p>
            <a:r>
              <a:rPr lang="en-US" sz="5400" b="1" dirty="0">
                <a:latin typeface="Times New Roman" panose="02020603050405020304" pitchFamily="18" charset="0"/>
                <a:cs typeface="Times New Roman" panose="02020603050405020304" pitchFamily="18" charset="0"/>
              </a:rPr>
              <a:t>Pressure vs Frequency Plot: </a:t>
            </a:r>
            <a:endParaRPr lang="en-US" sz="5200" b="1" dirty="0">
              <a:latin typeface="Times New Roman" panose="02020603050405020304" pitchFamily="18" charset="0"/>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FE0DF658-0EA7-4391-9497-BD2F05BB4FC0}"/>
              </a:ext>
            </a:extLst>
          </p:cNvPr>
          <p:cNvGraphicFramePr/>
          <p:nvPr>
            <p:extLst>
              <p:ext uri="{D42A27DB-BD31-4B8C-83A1-F6EECF244321}">
                <p14:modId xmlns:p14="http://schemas.microsoft.com/office/powerpoint/2010/main" val="2169312271"/>
              </p:ext>
            </p:extLst>
          </p:nvPr>
        </p:nvGraphicFramePr>
        <p:xfrm>
          <a:off x="1905000" y="1079500"/>
          <a:ext cx="5867400" cy="8128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44713185"/>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D1FA2-9D9C-C381-69BA-FC6B846540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6AA08BE-A34E-676E-F5F4-CC6CDD031097}"/>
              </a:ext>
            </a:extLst>
          </p:cNvPr>
          <p:cNvSpPr/>
          <p:nvPr/>
        </p:nvSpPr>
        <p:spPr>
          <a:xfrm>
            <a:off x="381001" y="266701"/>
            <a:ext cx="1905000" cy="1981200"/>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CD301896-43CE-F95F-348C-2995F587F9DF}"/>
              </a:ext>
            </a:extLst>
          </p:cNvPr>
          <p:cNvSpPr/>
          <p:nvPr/>
        </p:nvSpPr>
        <p:spPr>
          <a:xfrm flipH="1" flipV="1">
            <a:off x="15368154" y="7936645"/>
            <a:ext cx="2516102" cy="1981202"/>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B6DEFE81-6DF9-D736-A3A5-D7996A11584F}"/>
              </a:ext>
            </a:extLst>
          </p:cNvPr>
          <p:cNvSpPr/>
          <p:nvPr/>
        </p:nvSpPr>
        <p:spPr>
          <a:xfrm flipH="1">
            <a:off x="16154399" y="305549"/>
            <a:ext cx="1751848" cy="1981200"/>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193892A6-963F-E2F5-2986-95DB6508408B}"/>
              </a:ext>
            </a:extLst>
          </p:cNvPr>
          <p:cNvSpPr/>
          <p:nvPr/>
        </p:nvSpPr>
        <p:spPr>
          <a:xfrm flipV="1">
            <a:off x="417599" y="7936647"/>
            <a:ext cx="2173201" cy="1981201"/>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3" name="Picture 2">
            <a:extLst>
              <a:ext uri="{FF2B5EF4-FFF2-40B4-BE49-F238E27FC236}">
                <a16:creationId xmlns:a16="http://schemas.microsoft.com/office/drawing/2014/main" id="{CECA0DE4-37AA-C18C-F0B6-E3102B2040EC}"/>
              </a:ext>
            </a:extLst>
          </p:cNvPr>
          <p:cNvPicPr>
            <a:picLocks noChangeAspect="1"/>
          </p:cNvPicPr>
          <p:nvPr/>
        </p:nvPicPr>
        <p:blipFill>
          <a:blip r:embed="rId4">
            <a:extLst>
              <a:ext uri="{28A0092B-C50C-407E-A947-70E740481C1C}">
                <a14:useLocalDpi xmlns:a14="http://schemas.microsoft.com/office/drawing/2010/main" val="0"/>
              </a:ext>
            </a:extLst>
          </a:blip>
          <a:srcRect l="62656"/>
          <a:stretch>
            <a:fillRect/>
          </a:stretch>
        </p:blipFill>
        <p:spPr>
          <a:xfrm>
            <a:off x="8381998" y="1943099"/>
            <a:ext cx="8077200" cy="7349525"/>
          </a:xfrm>
          <a:prstGeom prst="rect">
            <a:avLst/>
          </a:prstGeom>
        </p:spPr>
      </p:pic>
      <p:sp>
        <p:nvSpPr>
          <p:cNvPr id="4" name="TextBox 3">
            <a:extLst>
              <a:ext uri="{FF2B5EF4-FFF2-40B4-BE49-F238E27FC236}">
                <a16:creationId xmlns:a16="http://schemas.microsoft.com/office/drawing/2014/main" id="{9F86A31F-7BF9-D272-FDB2-878B0AAC7894}"/>
              </a:ext>
            </a:extLst>
          </p:cNvPr>
          <p:cNvSpPr txBox="1"/>
          <p:nvPr/>
        </p:nvSpPr>
        <p:spPr>
          <a:xfrm>
            <a:off x="1523249" y="643235"/>
            <a:ext cx="8913017" cy="923330"/>
          </a:xfrm>
          <a:prstGeom prst="rect">
            <a:avLst/>
          </a:prstGeom>
          <a:noFill/>
        </p:spPr>
        <p:txBody>
          <a:bodyPr wrap="none" rtlCol="0">
            <a:spAutoFit/>
          </a:bodyPr>
          <a:lstStyle/>
          <a:p>
            <a:r>
              <a:rPr lang="en-US" sz="5400" b="1" dirty="0"/>
              <a:t>Amplitude vs Frequency 	Plot:</a:t>
            </a:r>
            <a:endParaRPr lang="en-US" sz="5200" b="1" dirty="0">
              <a:latin typeface="Times New Roman" panose="02020603050405020304" pitchFamily="18" charset="0"/>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2C3A0AC1-FAD5-4ABE-AE23-C257FE7A9134}"/>
              </a:ext>
            </a:extLst>
          </p:cNvPr>
          <p:cNvGraphicFramePr/>
          <p:nvPr>
            <p:extLst>
              <p:ext uri="{D42A27DB-BD31-4B8C-83A1-F6EECF244321}">
                <p14:modId xmlns:p14="http://schemas.microsoft.com/office/powerpoint/2010/main" val="2905473495"/>
              </p:ext>
            </p:extLst>
          </p:nvPr>
        </p:nvGraphicFramePr>
        <p:xfrm>
          <a:off x="1219200" y="1079500"/>
          <a:ext cx="7162798" cy="8128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875935434"/>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96557" y="2710124"/>
            <a:ext cx="13904691" cy="1593457"/>
            <a:chOff x="0" y="0"/>
            <a:chExt cx="1222804" cy="129096"/>
          </a:xfrm>
        </p:grpSpPr>
        <p:sp>
          <p:nvSpPr>
            <p:cNvPr id="3" name="Freeform 3"/>
            <p:cNvSpPr/>
            <p:nvPr/>
          </p:nvSpPr>
          <p:spPr>
            <a:xfrm>
              <a:off x="0" y="0"/>
              <a:ext cx="1222804" cy="129096"/>
            </a:xfrm>
            <a:custGeom>
              <a:avLst/>
              <a:gdLst/>
              <a:ahLst/>
              <a:cxnLst/>
              <a:rect l="l" t="t" r="r" b="b"/>
              <a:pathLst>
                <a:path w="1222804" h="129096">
                  <a:moveTo>
                    <a:pt x="10994" y="0"/>
                  </a:moveTo>
                  <a:lnTo>
                    <a:pt x="1211810" y="0"/>
                  </a:lnTo>
                  <a:cubicBezTo>
                    <a:pt x="1214726" y="0"/>
                    <a:pt x="1217522" y="1158"/>
                    <a:pt x="1219584" y="3220"/>
                  </a:cubicBezTo>
                  <a:cubicBezTo>
                    <a:pt x="1221646" y="5282"/>
                    <a:pt x="1222804" y="8078"/>
                    <a:pt x="1222804" y="10994"/>
                  </a:cubicBezTo>
                  <a:lnTo>
                    <a:pt x="1222804" y="118102"/>
                  </a:lnTo>
                  <a:cubicBezTo>
                    <a:pt x="1222804" y="124174"/>
                    <a:pt x="1217882" y="129096"/>
                    <a:pt x="1211810" y="129096"/>
                  </a:cubicBezTo>
                  <a:lnTo>
                    <a:pt x="10994" y="129096"/>
                  </a:lnTo>
                  <a:cubicBezTo>
                    <a:pt x="8078" y="129096"/>
                    <a:pt x="5282" y="127938"/>
                    <a:pt x="3220" y="125876"/>
                  </a:cubicBezTo>
                  <a:cubicBezTo>
                    <a:pt x="1158" y="123814"/>
                    <a:pt x="0" y="121018"/>
                    <a:pt x="0" y="118102"/>
                  </a:cubicBezTo>
                  <a:lnTo>
                    <a:pt x="0" y="10994"/>
                  </a:lnTo>
                  <a:cubicBezTo>
                    <a:pt x="0" y="8078"/>
                    <a:pt x="1158" y="5282"/>
                    <a:pt x="3220" y="3220"/>
                  </a:cubicBezTo>
                  <a:cubicBezTo>
                    <a:pt x="5282" y="1158"/>
                    <a:pt x="8078" y="0"/>
                    <a:pt x="10994" y="0"/>
                  </a:cubicBezTo>
                  <a:close/>
                </a:path>
              </a:pathLst>
            </a:custGeom>
            <a:solidFill>
              <a:srgbClr val="18899D"/>
            </a:solidFill>
          </p:spPr>
          <p:txBody>
            <a:bodyPr/>
            <a:lstStyle/>
            <a:p>
              <a:endParaRPr lang="en-US"/>
            </a:p>
          </p:txBody>
        </p:sp>
        <p:sp>
          <p:nvSpPr>
            <p:cNvPr id="4" name="TextBox 4"/>
            <p:cNvSpPr txBox="1"/>
            <p:nvPr/>
          </p:nvSpPr>
          <p:spPr>
            <a:xfrm>
              <a:off x="0" y="-38100"/>
              <a:ext cx="1222804" cy="16719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81537" y="178946"/>
            <a:ext cx="1875863" cy="2237836"/>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6" name="Freeform 6"/>
          <p:cNvSpPr/>
          <p:nvPr/>
        </p:nvSpPr>
        <p:spPr>
          <a:xfrm flipH="1" flipV="1">
            <a:off x="16155972" y="8000000"/>
            <a:ext cx="2066058" cy="2184513"/>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flipH="1">
            <a:off x="16230598" y="89218"/>
            <a:ext cx="1875864" cy="2184513"/>
          </a:xfrm>
          <a:custGeom>
            <a:avLst/>
            <a:gdLst/>
            <a:ahLst/>
            <a:cxnLst/>
            <a:rect l="l" t="t" r="r" b="b"/>
            <a:pathLst>
              <a:path w="2516101" h="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flipV="1">
            <a:off x="181538" y="8134920"/>
            <a:ext cx="2066058" cy="1880566"/>
          </a:xfrm>
          <a:custGeom>
            <a:avLst/>
            <a:gdLst/>
            <a:ahLst/>
            <a:cxnLst/>
            <a:rect l="l" t="t" r="r" b="b"/>
            <a:pathLst>
              <a:path w="2516101" h="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9" name="TextBox 9"/>
          <p:cNvSpPr txBox="1"/>
          <p:nvPr/>
        </p:nvSpPr>
        <p:spPr>
          <a:xfrm>
            <a:off x="2590801" y="2951507"/>
            <a:ext cx="13030198" cy="738664"/>
          </a:xfrm>
          <a:prstGeom prst="rect">
            <a:avLst/>
          </a:prstGeom>
        </p:spPr>
        <p:txBody>
          <a:bodyPr wrap="square" lIns="0" tIns="0" rIns="0" bIns="0" rtlCol="0" anchor="t">
            <a:spAutoFit/>
          </a:bodyPr>
          <a:lstStyle/>
          <a:p>
            <a:pPr marL="0" lvl="0" indent="0" algn="just"/>
            <a:r>
              <a:rPr lang="en-US" sz="4800" dirty="0">
                <a:solidFill>
                  <a:srgbClr val="FFFFFF"/>
                </a:solidFill>
                <a:latin typeface="Times New Roman" panose="02020603050405020304" pitchFamily="18" charset="0"/>
                <a:ea typeface="TS Qamus"/>
                <a:cs typeface="Times New Roman" panose="02020603050405020304" pitchFamily="18" charset="0"/>
                <a:sym typeface="TS Qamus"/>
              </a:rPr>
              <a:t>Manual Pressure Input Only </a:t>
            </a:r>
          </a:p>
        </p:txBody>
      </p:sp>
      <p:sp>
        <p:nvSpPr>
          <p:cNvPr id="10" name="TextBox 10"/>
          <p:cNvSpPr txBox="1"/>
          <p:nvPr/>
        </p:nvSpPr>
        <p:spPr>
          <a:xfrm>
            <a:off x="3955689" y="1085850"/>
            <a:ext cx="10376622" cy="1049066"/>
          </a:xfrm>
          <a:prstGeom prst="rect">
            <a:avLst/>
          </a:prstGeom>
        </p:spPr>
        <p:txBody>
          <a:bodyPr lIns="0" tIns="0" rIns="0" bIns="0" rtlCol="0" anchor="t">
            <a:spAutoFit/>
          </a:bodyPr>
          <a:lstStyle/>
          <a:p>
            <a:pPr marL="0" lvl="0" indent="0" algn="ctr">
              <a:lnSpc>
                <a:spcPts val="7914"/>
              </a:lnSpc>
            </a:pPr>
            <a:r>
              <a:rPr lang="en-US" sz="7261" b="1">
                <a:solidFill>
                  <a:srgbClr val="18899D"/>
                </a:solidFill>
                <a:latin typeface="TS Qamus Bold"/>
                <a:ea typeface="TS Qamus Bold"/>
                <a:cs typeface="TS Qamus Bold"/>
                <a:sym typeface="TS Qamus Bold"/>
              </a:rPr>
              <a:t>LIMITATIONS</a:t>
            </a:r>
          </a:p>
        </p:txBody>
      </p:sp>
      <p:grpSp>
        <p:nvGrpSpPr>
          <p:cNvPr id="11" name="Group 11"/>
          <p:cNvGrpSpPr/>
          <p:nvPr/>
        </p:nvGrpSpPr>
        <p:grpSpPr>
          <a:xfrm>
            <a:off x="2045042" y="5027317"/>
            <a:ext cx="13943849" cy="1497209"/>
            <a:chOff x="0" y="0"/>
            <a:chExt cx="1222804" cy="129096"/>
          </a:xfrm>
        </p:grpSpPr>
        <p:sp>
          <p:nvSpPr>
            <p:cNvPr id="12" name="Freeform 12"/>
            <p:cNvSpPr/>
            <p:nvPr/>
          </p:nvSpPr>
          <p:spPr>
            <a:xfrm>
              <a:off x="0" y="0"/>
              <a:ext cx="1222804" cy="129096"/>
            </a:xfrm>
            <a:custGeom>
              <a:avLst/>
              <a:gdLst/>
              <a:ahLst/>
              <a:cxnLst/>
              <a:rect l="l" t="t" r="r" b="b"/>
              <a:pathLst>
                <a:path w="1222804" h="129096">
                  <a:moveTo>
                    <a:pt x="10994" y="0"/>
                  </a:moveTo>
                  <a:lnTo>
                    <a:pt x="1211810" y="0"/>
                  </a:lnTo>
                  <a:cubicBezTo>
                    <a:pt x="1214726" y="0"/>
                    <a:pt x="1217522" y="1158"/>
                    <a:pt x="1219584" y="3220"/>
                  </a:cubicBezTo>
                  <a:cubicBezTo>
                    <a:pt x="1221646" y="5282"/>
                    <a:pt x="1222804" y="8078"/>
                    <a:pt x="1222804" y="10994"/>
                  </a:cubicBezTo>
                  <a:lnTo>
                    <a:pt x="1222804" y="118102"/>
                  </a:lnTo>
                  <a:cubicBezTo>
                    <a:pt x="1222804" y="124174"/>
                    <a:pt x="1217882" y="129096"/>
                    <a:pt x="1211810" y="129096"/>
                  </a:cubicBezTo>
                  <a:lnTo>
                    <a:pt x="10994" y="129096"/>
                  </a:lnTo>
                  <a:cubicBezTo>
                    <a:pt x="8078" y="129096"/>
                    <a:pt x="5282" y="127938"/>
                    <a:pt x="3220" y="125876"/>
                  </a:cubicBezTo>
                  <a:cubicBezTo>
                    <a:pt x="1158" y="123814"/>
                    <a:pt x="0" y="121018"/>
                    <a:pt x="0" y="118102"/>
                  </a:cubicBezTo>
                  <a:lnTo>
                    <a:pt x="0" y="10994"/>
                  </a:lnTo>
                  <a:cubicBezTo>
                    <a:pt x="0" y="8078"/>
                    <a:pt x="1158" y="5282"/>
                    <a:pt x="3220" y="3220"/>
                  </a:cubicBezTo>
                  <a:cubicBezTo>
                    <a:pt x="5282" y="1158"/>
                    <a:pt x="8078" y="0"/>
                    <a:pt x="10994" y="0"/>
                  </a:cubicBezTo>
                  <a:close/>
                </a:path>
              </a:pathLst>
            </a:custGeom>
            <a:solidFill>
              <a:srgbClr val="18899D"/>
            </a:solidFill>
          </p:spPr>
          <p:txBody>
            <a:bodyPr/>
            <a:lstStyle/>
            <a:p>
              <a:endParaRPr lang="en-US"/>
            </a:p>
          </p:txBody>
        </p:sp>
        <p:sp>
          <p:nvSpPr>
            <p:cNvPr id="13" name="TextBox 13"/>
            <p:cNvSpPr txBox="1"/>
            <p:nvPr/>
          </p:nvSpPr>
          <p:spPr>
            <a:xfrm>
              <a:off x="0" y="-38100"/>
              <a:ext cx="1222804" cy="16719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TextBox 14"/>
          <p:cNvSpPr txBox="1"/>
          <p:nvPr/>
        </p:nvSpPr>
        <p:spPr>
          <a:xfrm>
            <a:off x="2590801" y="5392196"/>
            <a:ext cx="13030198" cy="677108"/>
          </a:xfrm>
          <a:prstGeom prst="rect">
            <a:avLst/>
          </a:prstGeom>
        </p:spPr>
        <p:txBody>
          <a:bodyPr wrap="square" lIns="0" tIns="0" rIns="0" bIns="0" rtlCol="0" anchor="t">
            <a:spAutoFit/>
          </a:bodyPr>
          <a:lstStyle/>
          <a:p>
            <a:pPr marL="0" lvl="0" indent="0" algn="just"/>
            <a:r>
              <a:rPr lang="en-US" sz="4400" dirty="0">
                <a:solidFill>
                  <a:srgbClr val="FFFFFF"/>
                </a:solidFill>
                <a:latin typeface="Times New Roman" panose="02020603050405020304" pitchFamily="18" charset="0"/>
                <a:ea typeface="TS Qamus"/>
                <a:cs typeface="Times New Roman" panose="02020603050405020304" pitchFamily="18" charset="0"/>
                <a:sym typeface="TS Qamus"/>
              </a:rPr>
              <a:t>Simplified Linear Damping Model </a:t>
            </a:r>
          </a:p>
        </p:txBody>
      </p:sp>
      <p:grpSp>
        <p:nvGrpSpPr>
          <p:cNvPr id="15" name="Group 15"/>
          <p:cNvGrpSpPr/>
          <p:nvPr/>
        </p:nvGrpSpPr>
        <p:grpSpPr>
          <a:xfrm>
            <a:off x="2057399" y="7405222"/>
            <a:ext cx="13943849" cy="1497209"/>
            <a:chOff x="0" y="0"/>
            <a:chExt cx="1222804" cy="129096"/>
          </a:xfrm>
        </p:grpSpPr>
        <p:sp>
          <p:nvSpPr>
            <p:cNvPr id="16" name="Freeform 16"/>
            <p:cNvSpPr/>
            <p:nvPr/>
          </p:nvSpPr>
          <p:spPr>
            <a:xfrm>
              <a:off x="0" y="0"/>
              <a:ext cx="1222804" cy="129096"/>
            </a:xfrm>
            <a:custGeom>
              <a:avLst/>
              <a:gdLst/>
              <a:ahLst/>
              <a:cxnLst/>
              <a:rect l="l" t="t" r="r" b="b"/>
              <a:pathLst>
                <a:path w="1222804" h="129096">
                  <a:moveTo>
                    <a:pt x="10994" y="0"/>
                  </a:moveTo>
                  <a:lnTo>
                    <a:pt x="1211810" y="0"/>
                  </a:lnTo>
                  <a:cubicBezTo>
                    <a:pt x="1214726" y="0"/>
                    <a:pt x="1217522" y="1158"/>
                    <a:pt x="1219584" y="3220"/>
                  </a:cubicBezTo>
                  <a:cubicBezTo>
                    <a:pt x="1221646" y="5282"/>
                    <a:pt x="1222804" y="8078"/>
                    <a:pt x="1222804" y="10994"/>
                  </a:cubicBezTo>
                  <a:lnTo>
                    <a:pt x="1222804" y="118102"/>
                  </a:lnTo>
                  <a:cubicBezTo>
                    <a:pt x="1222804" y="124174"/>
                    <a:pt x="1217882" y="129096"/>
                    <a:pt x="1211810" y="129096"/>
                  </a:cubicBezTo>
                  <a:lnTo>
                    <a:pt x="10994" y="129096"/>
                  </a:lnTo>
                  <a:cubicBezTo>
                    <a:pt x="8078" y="129096"/>
                    <a:pt x="5282" y="127938"/>
                    <a:pt x="3220" y="125876"/>
                  </a:cubicBezTo>
                  <a:cubicBezTo>
                    <a:pt x="1158" y="123814"/>
                    <a:pt x="0" y="121018"/>
                    <a:pt x="0" y="118102"/>
                  </a:cubicBezTo>
                  <a:lnTo>
                    <a:pt x="0" y="10994"/>
                  </a:lnTo>
                  <a:cubicBezTo>
                    <a:pt x="0" y="8078"/>
                    <a:pt x="1158" y="5282"/>
                    <a:pt x="3220" y="3220"/>
                  </a:cubicBezTo>
                  <a:cubicBezTo>
                    <a:pt x="5282" y="1158"/>
                    <a:pt x="8078" y="0"/>
                    <a:pt x="10994" y="0"/>
                  </a:cubicBezTo>
                  <a:close/>
                </a:path>
              </a:pathLst>
            </a:custGeom>
            <a:solidFill>
              <a:srgbClr val="18899D"/>
            </a:solidFill>
          </p:spPr>
          <p:txBody>
            <a:bodyPr/>
            <a:lstStyle/>
            <a:p>
              <a:endParaRPr lang="en-US"/>
            </a:p>
          </p:txBody>
        </p:sp>
        <p:sp>
          <p:nvSpPr>
            <p:cNvPr id="17" name="TextBox 17"/>
            <p:cNvSpPr txBox="1"/>
            <p:nvPr/>
          </p:nvSpPr>
          <p:spPr>
            <a:xfrm>
              <a:off x="0" y="-38100"/>
              <a:ext cx="1222804" cy="16719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2590801" y="7617236"/>
            <a:ext cx="12296495" cy="677108"/>
          </a:xfrm>
          <a:prstGeom prst="rect">
            <a:avLst/>
          </a:prstGeom>
        </p:spPr>
        <p:txBody>
          <a:bodyPr lIns="0" tIns="0" rIns="0" bIns="0" rtlCol="0" anchor="t">
            <a:spAutoFit/>
          </a:bodyPr>
          <a:lstStyle/>
          <a:p>
            <a:pPr marL="0" lvl="0" indent="0" algn="just"/>
            <a:r>
              <a:rPr lang="en-US" sz="4400" dirty="0">
                <a:solidFill>
                  <a:srgbClr val="FFFFFF"/>
                </a:solidFill>
                <a:latin typeface="Times New Roman" panose="02020603050405020304" pitchFamily="18" charset="0"/>
                <a:ea typeface="TS Qamus"/>
                <a:cs typeface="Times New Roman" panose="02020603050405020304" pitchFamily="18" charset="0"/>
                <a:sym typeface="TS Qamus"/>
              </a:rPr>
              <a:t>Idealized RC Filtering Assumptions </a:t>
            </a:r>
          </a:p>
        </p:txBody>
      </p:sp>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516C-3F70-4DD6-9FF6-E287F5BB3F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EE8503C-0052-A531-690B-FC53F53944A5}"/>
              </a:ext>
            </a:extLst>
          </p:cNvPr>
          <p:cNvSpPr/>
          <p:nvPr/>
        </p:nvSpPr>
        <p:spPr>
          <a:xfrm>
            <a:off x="304800" y="190500"/>
            <a:ext cx="2514600" cy="24384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Freeform 4">
            <a:extLst>
              <a:ext uri="{FF2B5EF4-FFF2-40B4-BE49-F238E27FC236}">
                <a16:creationId xmlns:a16="http://schemas.microsoft.com/office/drawing/2014/main" id="{FF3A7941-5CA7-3536-7CAF-46E96E24AB92}"/>
              </a:ext>
            </a:extLst>
          </p:cNvPr>
          <p:cNvSpPr/>
          <p:nvPr/>
        </p:nvSpPr>
        <p:spPr>
          <a:xfrm flipH="1" flipV="1">
            <a:off x="15087600" y="7734300"/>
            <a:ext cx="2672002" cy="22860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D2B86855-6272-A93A-629B-D658F88C57BF}"/>
              </a:ext>
            </a:extLst>
          </p:cNvPr>
          <p:cNvSpPr/>
          <p:nvPr/>
        </p:nvSpPr>
        <p:spPr>
          <a:xfrm>
            <a:off x="528398" y="9105900"/>
            <a:ext cx="1376602" cy="68125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B14AE217-BDC8-B332-3C2E-7EE7B52DF7EB}"/>
              </a:ext>
            </a:extLst>
          </p:cNvPr>
          <p:cNvSpPr/>
          <p:nvPr/>
        </p:nvSpPr>
        <p:spPr>
          <a:xfrm flipH="1">
            <a:off x="16154400" y="266700"/>
            <a:ext cx="1605202" cy="681258"/>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4">
            <a:extLst>
              <a:ext uri="{FF2B5EF4-FFF2-40B4-BE49-F238E27FC236}">
                <a16:creationId xmlns:a16="http://schemas.microsoft.com/office/drawing/2014/main" id="{159FE991-8A4D-6DED-658F-FEB786FD56FC}"/>
              </a:ext>
            </a:extLst>
          </p:cNvPr>
          <p:cNvSpPr txBox="1"/>
          <p:nvPr/>
        </p:nvSpPr>
        <p:spPr>
          <a:xfrm>
            <a:off x="2057400" y="962867"/>
            <a:ext cx="10896600" cy="830997"/>
          </a:xfrm>
          <a:prstGeom prst="rect">
            <a:avLst/>
          </a:prstGeom>
          <a:noFill/>
        </p:spPr>
        <p:txBody>
          <a:bodyPr wrap="square">
            <a:spAutoFit/>
          </a:bodyPr>
          <a:lstStyle/>
          <a:p>
            <a:r>
              <a:rPr lang="en-GB" sz="4800" u="sng" dirty="0">
                <a:solidFill>
                  <a:srgbClr val="0070C0"/>
                </a:solidFill>
                <a:latin typeface="Times New Roman" panose="02020603050405020304" pitchFamily="18" charset="0"/>
                <a:cs typeface="Times New Roman" panose="02020603050405020304" pitchFamily="18" charset="0"/>
              </a:rPr>
              <a:t>Communication to External Stakeholders: </a:t>
            </a:r>
          </a:p>
        </p:txBody>
      </p:sp>
      <p:sp>
        <p:nvSpPr>
          <p:cNvPr id="6" name="TextBox 5">
            <a:extLst>
              <a:ext uri="{FF2B5EF4-FFF2-40B4-BE49-F238E27FC236}">
                <a16:creationId xmlns:a16="http://schemas.microsoft.com/office/drawing/2014/main" id="{D6781F8F-28D2-670C-7A32-CC08AF74E76B}"/>
              </a:ext>
            </a:extLst>
          </p:cNvPr>
          <p:cNvSpPr txBox="1"/>
          <p:nvPr/>
        </p:nvSpPr>
        <p:spPr>
          <a:xfrm>
            <a:off x="1905001" y="3314700"/>
            <a:ext cx="16154400" cy="3600986"/>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Git-Hub link</a:t>
            </a:r>
            <a:r>
              <a:rPr lang="en-US"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hlinkClick r:id="rId6"/>
              </a:rPr>
              <a:t>https://github.com/anirudha175/Pressure-Induced-Sasando-String-Vibration-via-Piezoelectric-Mapping</a:t>
            </a:r>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YouTube link: </a:t>
            </a:r>
            <a:r>
              <a:rPr lang="en-US" sz="3200" dirty="0">
                <a:latin typeface="Times New Roman" panose="02020603050405020304" pitchFamily="18" charset="0"/>
                <a:cs typeface="Times New Roman" panose="02020603050405020304" pitchFamily="18" charset="0"/>
                <a:hlinkClick r:id="rId7"/>
              </a:rPr>
              <a:t>https://youtube.com/playlist?list=PL3EaVPxK3BIcc06goMEuOAC87wx65Bq6l&amp;si=yNvdukcXBy2id3qe</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0115248"/>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B326D-B6CD-16A9-B897-8C0FCCA3D4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4463FB1-E819-97D1-02DC-FBA6B1D3255C}"/>
              </a:ext>
            </a:extLst>
          </p:cNvPr>
          <p:cNvSpPr/>
          <p:nvPr/>
        </p:nvSpPr>
        <p:spPr>
          <a:xfrm>
            <a:off x="304800" y="190500"/>
            <a:ext cx="2514600" cy="24384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Freeform 4">
            <a:extLst>
              <a:ext uri="{FF2B5EF4-FFF2-40B4-BE49-F238E27FC236}">
                <a16:creationId xmlns:a16="http://schemas.microsoft.com/office/drawing/2014/main" id="{47D1F6CE-9906-4F69-C673-829C81F24778}"/>
              </a:ext>
            </a:extLst>
          </p:cNvPr>
          <p:cNvSpPr/>
          <p:nvPr/>
        </p:nvSpPr>
        <p:spPr>
          <a:xfrm flipH="1" flipV="1">
            <a:off x="15087600" y="7734300"/>
            <a:ext cx="2672002" cy="22860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5A357DDF-69F1-5E38-C1C7-5D771B7BA67C}"/>
              </a:ext>
            </a:extLst>
          </p:cNvPr>
          <p:cNvSpPr/>
          <p:nvPr/>
        </p:nvSpPr>
        <p:spPr>
          <a:xfrm>
            <a:off x="528398" y="9105900"/>
            <a:ext cx="1376602" cy="68125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A15C63A9-9127-A37E-E641-AF487D4B8AEE}"/>
              </a:ext>
            </a:extLst>
          </p:cNvPr>
          <p:cNvSpPr/>
          <p:nvPr/>
        </p:nvSpPr>
        <p:spPr>
          <a:xfrm flipH="1">
            <a:off x="16154400" y="266700"/>
            <a:ext cx="1605202" cy="681258"/>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159A3A97-A2B7-55AC-0C6B-803BBF394558}"/>
              </a:ext>
            </a:extLst>
          </p:cNvPr>
          <p:cNvSpPr txBox="1"/>
          <p:nvPr/>
        </p:nvSpPr>
        <p:spPr>
          <a:xfrm>
            <a:off x="990600" y="499842"/>
            <a:ext cx="3086101" cy="830997"/>
          </a:xfrm>
          <a:prstGeom prst="rect">
            <a:avLst/>
          </a:prstGeom>
          <a:noFill/>
        </p:spPr>
        <p:txBody>
          <a:bodyPr wrap="none" rtlCol="0">
            <a:spAutoFit/>
          </a:bodyPr>
          <a:lstStyle/>
          <a:p>
            <a:r>
              <a:rPr lang="en-US" sz="4800" u="sng"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A3E56B44-766D-F97B-D6E9-1B737921930D}"/>
              </a:ext>
            </a:extLst>
          </p:cNvPr>
          <p:cNvSpPr txBox="1"/>
          <p:nvPr/>
        </p:nvSpPr>
        <p:spPr>
          <a:xfrm>
            <a:off x="838200" y="1503218"/>
            <a:ext cx="17449800" cy="821763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a:t>
            </a:r>
            <a:r>
              <a:rPr lang="en-US" sz="2400" dirty="0"/>
              <a:t>MIT </a:t>
            </a:r>
            <a:r>
              <a:rPr lang="en-US" sz="2400" dirty="0" err="1"/>
              <a:t>OpenCourseWare</a:t>
            </a:r>
            <a:r>
              <a:rPr lang="en-US" sz="2400" dirty="0"/>
              <a:t>, “Physics III: Vibrations and Waves,” Massachusetts Institute of Technology, 2016. [Online]. Available: </a:t>
            </a:r>
          </a:p>
          <a:p>
            <a:r>
              <a:rPr lang="en-US" sz="2400" dirty="0">
                <a:hlinkClick r:id="rId6"/>
              </a:rPr>
              <a:t>https://ocw.mit.edu/courses/physics/8-03sc-physics-iii-vibrations-and-waves-fall 2016/</a:t>
            </a:r>
            <a:endParaRPr lang="en-US" sz="2400" dirty="0"/>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a:t>
            </a:r>
            <a:r>
              <a:rPr lang="en-US" sz="2400" dirty="0"/>
              <a:t> E. W. </a:t>
            </a:r>
            <a:r>
              <a:rPr lang="en-US" sz="2400" dirty="0" err="1"/>
              <a:t>Weisstein</a:t>
            </a:r>
            <a:r>
              <a:rPr lang="en-US" sz="2400" dirty="0"/>
              <a:t>, “Wave Equation,” Wolfram </a:t>
            </a:r>
            <a:r>
              <a:rPr lang="en-US" sz="2400" dirty="0" err="1"/>
              <a:t>MathWorld</a:t>
            </a:r>
            <a:r>
              <a:rPr lang="en-US" sz="2400" dirty="0"/>
              <a:t>. [Online]. Available:</a:t>
            </a:r>
          </a:p>
          <a:p>
            <a:r>
              <a:rPr lang="en-US" sz="2400" dirty="0">
                <a:hlinkClick r:id="rId7"/>
              </a:rPr>
              <a:t>Wave Equation -- from Wolfram </a:t>
            </a:r>
            <a:r>
              <a:rPr lang="en-US" sz="2400" dirty="0" err="1">
                <a:hlinkClick r:id="rId7"/>
              </a:rPr>
              <a:t>MathWorld</a:t>
            </a:r>
            <a:endParaRPr lang="en-US" sz="2400" dirty="0"/>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3.</a:t>
            </a:r>
            <a:r>
              <a:rPr lang="en-US" sz="2400" dirty="0"/>
              <a:t> R. Nave, “Vibrating String,” </a:t>
            </a:r>
            <a:r>
              <a:rPr lang="en-US" sz="2400" dirty="0" err="1"/>
              <a:t>HyperPhysics</a:t>
            </a:r>
            <a:r>
              <a:rPr lang="en-US" sz="2400" dirty="0"/>
              <a:t>, Georgia State University. [Online]. Available:</a:t>
            </a:r>
            <a:r>
              <a:rPr lang="en-US" sz="2400" dirty="0">
                <a:hlinkClick r:id="rId8"/>
              </a:rPr>
              <a:t> https://hyperphysics.phy-astr.gsu.edu/hbase/Waves/string.html </a:t>
            </a:r>
            <a:endParaRPr lang="en-US" sz="2400" dirty="0"/>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4.</a:t>
            </a:r>
            <a:r>
              <a:rPr lang="en-US" sz="2400" dirty="0"/>
              <a:t> K. Brown, “An Interactive Guide to the Fourier Transform,” </a:t>
            </a:r>
            <a:r>
              <a:rPr lang="en-US" sz="2400" dirty="0" err="1"/>
              <a:t>BetterExplained</a:t>
            </a:r>
            <a:r>
              <a:rPr lang="en-US" sz="2400" dirty="0"/>
              <a:t>. [Online]. Available:</a:t>
            </a:r>
            <a:r>
              <a:rPr lang="en-US" sz="2400" dirty="0">
                <a:hlinkClick r:id="rId9"/>
              </a:rPr>
              <a:t> An Interactive Guide To The Fourier Transform – </a:t>
            </a:r>
            <a:r>
              <a:rPr lang="en-US" sz="2400" dirty="0" err="1">
                <a:hlinkClick r:id="rId9"/>
              </a:rPr>
              <a:t>BetterExplained</a:t>
            </a:r>
            <a:endParaRPr lang="en-US" sz="2400" dirty="0"/>
          </a:p>
          <a:p>
            <a:endParaRPr lang="en-US" sz="2400" dirty="0"/>
          </a:p>
          <a:p>
            <a:r>
              <a:rPr lang="en-US" sz="2400" dirty="0"/>
              <a:t>5. MathWorks, “Fast Fourier Transform (FFT),” MATLAB Documentation. [Online]. Available:</a:t>
            </a:r>
            <a:r>
              <a:rPr lang="en-US" sz="2400" dirty="0">
                <a:hlinkClick r:id="rId10"/>
              </a:rPr>
              <a:t> </a:t>
            </a:r>
            <a:r>
              <a:rPr lang="en-US" sz="2400" dirty="0" err="1">
                <a:hlinkClick r:id="rId10"/>
              </a:rPr>
              <a:t>fft</a:t>
            </a:r>
            <a:r>
              <a:rPr lang="en-US" sz="2400" dirty="0">
                <a:hlinkClick r:id="rId10"/>
              </a:rPr>
              <a:t> - Fast Fourier transform – MATLAB</a:t>
            </a:r>
            <a:endParaRPr lang="en-US" sz="2400" dirty="0"/>
          </a:p>
          <a:p>
            <a:endParaRPr lang="en-US" sz="2400" dirty="0"/>
          </a:p>
          <a:p>
            <a:r>
              <a:rPr lang="en-US" sz="2400" dirty="0"/>
              <a:t>6. MathWorks, “MATLAB Documentation,” The MathWorks, Inc. [Online]. Available:</a:t>
            </a:r>
            <a:r>
              <a:rPr lang="en-US" sz="2400" dirty="0">
                <a:hlinkClick r:id="rId11"/>
              </a:rPr>
              <a:t> Help Center</a:t>
            </a:r>
            <a:endParaRPr lang="en-US" sz="2400" dirty="0"/>
          </a:p>
          <a:p>
            <a:endParaRPr lang="en-US" sz="2400" dirty="0"/>
          </a:p>
          <a:p>
            <a:r>
              <a:rPr lang="en-US" sz="2400" dirty="0"/>
              <a:t>7. J. Wolfe, “Music Acoustics,” University of New South Wales. [Online]. Available: </a:t>
            </a:r>
            <a:r>
              <a:rPr lang="en-US" sz="2400" dirty="0">
                <a:hlinkClick r:id="rId12"/>
              </a:rPr>
              <a:t>https://newt.phys.unsw.edu.au/jw/music.html </a:t>
            </a:r>
            <a:endParaRPr lang="en-US" sz="2400" dirty="0"/>
          </a:p>
          <a:p>
            <a:endParaRPr lang="en-US" sz="2400" dirty="0"/>
          </a:p>
          <a:p>
            <a:r>
              <a:rPr lang="en-US" sz="2400" dirty="0"/>
              <a:t>8. COMSOL, “Introduction to Partial Differential Equations,” COMSOL Multiphysics. [Online]. Available: </a:t>
            </a:r>
            <a:r>
              <a:rPr lang="en-US" sz="2400" dirty="0">
                <a:hlinkClick r:id="rId12"/>
              </a:rPr>
              <a:t>https://newt.phys.unsw.edu.au/jw/music.html</a:t>
            </a:r>
            <a:endParaRPr lang="en-US" sz="2400" dirty="0"/>
          </a:p>
          <a:p>
            <a:endParaRPr lang="en-US" sz="2400" dirty="0"/>
          </a:p>
          <a:p>
            <a:endParaRPr lang="en-US" sz="2400" dirty="0"/>
          </a:p>
        </p:txBody>
      </p:sp>
    </p:spTree>
    <p:extLst>
      <p:ext uri="{BB962C8B-B14F-4D97-AF65-F5344CB8AC3E}">
        <p14:creationId xmlns:p14="http://schemas.microsoft.com/office/powerpoint/2010/main" val="52394957"/>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99007-AD5B-F380-CD06-345AFEAA337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AB7062A-9286-2A1A-BB97-C33385163EFC}"/>
              </a:ext>
            </a:extLst>
          </p:cNvPr>
          <p:cNvSpPr/>
          <p:nvPr/>
        </p:nvSpPr>
        <p:spPr>
          <a:xfrm>
            <a:off x="304800" y="190500"/>
            <a:ext cx="2514600" cy="24384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Freeform 4">
            <a:extLst>
              <a:ext uri="{FF2B5EF4-FFF2-40B4-BE49-F238E27FC236}">
                <a16:creationId xmlns:a16="http://schemas.microsoft.com/office/drawing/2014/main" id="{2425689B-EDC1-7999-9B90-DC245B16B17C}"/>
              </a:ext>
            </a:extLst>
          </p:cNvPr>
          <p:cNvSpPr/>
          <p:nvPr/>
        </p:nvSpPr>
        <p:spPr>
          <a:xfrm flipH="1" flipV="1">
            <a:off x="15087600" y="7734300"/>
            <a:ext cx="2672002" cy="22860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DF67B93B-8259-3AC5-C46C-6569986E28E0}"/>
              </a:ext>
            </a:extLst>
          </p:cNvPr>
          <p:cNvSpPr/>
          <p:nvPr/>
        </p:nvSpPr>
        <p:spPr>
          <a:xfrm>
            <a:off x="528398" y="9105900"/>
            <a:ext cx="1376602" cy="681258"/>
          </a:xfrm>
          <a:custGeom>
            <a:avLst/>
            <a:gdLst/>
            <a:ahLst/>
            <a:cxnLst/>
            <a:rect l="l" t="t" r="r" b="b"/>
            <a:pathLst>
              <a:path w="2143604" h="986058">
                <a:moveTo>
                  <a:pt x="0" y="0"/>
                </a:moveTo>
                <a:lnTo>
                  <a:pt x="2143604" y="0"/>
                </a:lnTo>
                <a:lnTo>
                  <a:pt x="2143604" y="986058"/>
                </a:lnTo>
                <a:lnTo>
                  <a:pt x="0" y="986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0E733287-F3DF-501C-2928-E11E8829176C}"/>
              </a:ext>
            </a:extLst>
          </p:cNvPr>
          <p:cNvSpPr/>
          <p:nvPr/>
        </p:nvSpPr>
        <p:spPr>
          <a:xfrm flipH="1">
            <a:off x="16154400" y="266700"/>
            <a:ext cx="1605202" cy="681258"/>
          </a:xfrm>
          <a:custGeom>
            <a:avLst/>
            <a:gdLst/>
            <a:ahLst/>
            <a:cxnLst/>
            <a:rect l="l" t="t" r="r" b="b"/>
            <a:pathLst>
              <a:path w="2143604" h="986058">
                <a:moveTo>
                  <a:pt x="2143604" y="0"/>
                </a:moveTo>
                <a:lnTo>
                  <a:pt x="0" y="0"/>
                </a:lnTo>
                <a:lnTo>
                  <a:pt x="0" y="986058"/>
                </a:lnTo>
                <a:lnTo>
                  <a:pt x="2143604" y="986058"/>
                </a:lnTo>
                <a:lnTo>
                  <a:pt x="214360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9EA2B952-70D7-A9FE-9D35-A97F945915ED}"/>
              </a:ext>
            </a:extLst>
          </p:cNvPr>
          <p:cNvSpPr txBox="1"/>
          <p:nvPr/>
        </p:nvSpPr>
        <p:spPr>
          <a:xfrm>
            <a:off x="5029200" y="3549595"/>
            <a:ext cx="7426200" cy="1569660"/>
          </a:xfrm>
          <a:prstGeom prst="rect">
            <a:avLst/>
          </a:prstGeom>
          <a:noFill/>
        </p:spPr>
        <p:txBody>
          <a:bodyPr wrap="none" rtlCol="0">
            <a:spAutoFit/>
          </a:bodyPr>
          <a:lstStyle/>
          <a:p>
            <a:r>
              <a:rPr lang="en-US"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419584610"/>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9A3B146523D7408FCB462269CE9670" ma:contentTypeVersion="4" ma:contentTypeDescription="Create a new document." ma:contentTypeScope="" ma:versionID="df0075ea14ad0ea53cdf8e42acf0790c">
  <xsd:schema xmlns:xsd="http://www.w3.org/2001/XMLSchema" xmlns:xs="http://www.w3.org/2001/XMLSchema" xmlns:p="http://schemas.microsoft.com/office/2006/metadata/properties" xmlns:ns2="f74cc296-4bf6-4ffe-bbd2-c3af9141c9de" targetNamespace="http://schemas.microsoft.com/office/2006/metadata/properties" ma:root="true" ma:fieldsID="08cb9185bbca87eee4e40eae6232e3eb" ns2:_="">
    <xsd:import namespace="f74cc296-4bf6-4ffe-bbd2-c3af9141c9de"/>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4cc296-4bf6-4ffe-bbd2-c3af9141c9de"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f74cc296-4bf6-4ffe-bbd2-c3af9141c9de" xsi:nil="true"/>
  </documentManagement>
</p:properties>
</file>

<file path=customXml/itemProps1.xml><?xml version="1.0" encoding="utf-8"?>
<ds:datastoreItem xmlns:ds="http://schemas.openxmlformats.org/officeDocument/2006/customXml" ds:itemID="{9F8DDD54-AB92-4552-8A99-3C7C2ED3A5BB}"/>
</file>

<file path=customXml/itemProps2.xml><?xml version="1.0" encoding="utf-8"?>
<ds:datastoreItem xmlns:ds="http://schemas.openxmlformats.org/officeDocument/2006/customXml" ds:itemID="{DFF8F37F-3B1E-4414-BDA2-A99FAD872E1C}"/>
</file>

<file path=customXml/itemProps3.xml><?xml version="1.0" encoding="utf-8"?>
<ds:datastoreItem xmlns:ds="http://schemas.openxmlformats.org/officeDocument/2006/customXml" ds:itemID="{89463B42-54CA-4E77-A0BD-C3E20A29D26F}"/>
</file>

<file path=docProps/app.xml><?xml version="1.0" encoding="utf-8"?>
<Properties xmlns="http://schemas.openxmlformats.org/officeDocument/2006/extended-properties" xmlns:vt="http://schemas.openxmlformats.org/officeDocument/2006/docPropsVTypes">
  <Template>Wisp</Template>
  <TotalTime>298</TotalTime>
  <Words>672</Words>
  <Application>Microsoft Office PowerPoint</Application>
  <PresentationFormat>Custom</PresentationFormat>
  <Paragraphs>114</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TS Qamus Bold</vt:lpstr>
      <vt:lpstr>Cambria Math</vt:lpstr>
      <vt:lpstr>Arial</vt:lpstr>
      <vt:lpstr>TS Qamus</vt:lpstr>
      <vt:lpstr>Times New Roman</vt:lpstr>
      <vt:lpstr>Calibri</vt:lpstr>
      <vt:lpstr>Office Theme</vt:lpstr>
      <vt:lpstr>PowerPoint Presentation</vt:lpstr>
      <vt:lpstr>PowerPoint Presentation</vt:lpstr>
      <vt:lpstr>PowerPoint Presentation</vt:lpstr>
      <vt:lpstr>System Decompositon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Numerical Sasando Vibration Visualization</dc:title>
  <dc:creator>Swapneel</dc:creator>
  <cp:lastModifiedBy>Anirudha Roy Archo</cp:lastModifiedBy>
  <cp:revision>13</cp:revision>
  <dcterms:created xsi:type="dcterms:W3CDTF">2006-08-16T00:00:00Z</dcterms:created>
  <dcterms:modified xsi:type="dcterms:W3CDTF">2026-04-03T16:02:20Z</dcterms:modified>
  <dc:identifier>DAHFo6BJ0Vc</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0x010100F99A3B146523D7408FCB462269CE9670</vt:lpwstr>
  </property>
</Properties>
</file>